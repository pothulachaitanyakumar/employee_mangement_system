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60" r:id="rId3"/>
    <p:sldId id="261" r:id="rId4"/>
    <p:sldId id="262" r:id="rId5"/>
    <p:sldId id="263" r:id="rId6"/>
    <p:sldId id="264" r:id="rId7"/>
    <p:sldId id="266" r:id="rId8"/>
    <p:sldId id="265" r:id="rId9"/>
    <p:sldId id="267" r:id="rId10"/>
    <p:sldId id="268" r:id="rId11"/>
    <p:sldId id="270" r:id="rId12"/>
    <p:sldId id="271" r:id="rId13"/>
    <p:sldId id="272" r:id="rId14"/>
    <p:sldId id="269" r:id="rId15"/>
    <p:sldId id="273" r:id="rId16"/>
    <p:sldId id="274" r:id="rId17"/>
    <p:sldId id="276" r:id="rId18"/>
    <p:sldId id="277" r:id="rId19"/>
    <p:sldId id="275" r:id="rId20"/>
    <p:sldId id="278" r:id="rId21"/>
    <p:sldId id="279" r:id="rId22"/>
    <p:sldId id="280" r:id="rId23"/>
    <p:sldId id="259" r:id="rId24"/>
  </p:sldIdLst>
  <p:sldSz cx="12192000" cy="6858000"/>
  <p:notesSz cx="6858000" cy="9144000"/>
  <p:embeddedFontLst>
    <p:embeddedFont>
      <p:font typeface="Calibri" panose="020F0502020204030204" pitchFamily="34" charset="0"/>
      <p:regular r:id="rId26"/>
      <p:bold r:id="rId27"/>
      <p:italic r:id="rId28"/>
      <p:boldItalic r:id="rId29"/>
    </p:embeddedFont>
    <p:embeddedFont>
      <p:font typeface="Libre Baskerville" panose="020B060402020202020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23654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21</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12567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22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71266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3.xml"/><Relationship Id="rId6" Type="http://schemas.microsoft.com/office/2007/relationships/hdphoto" Target="../media/hdphoto2.wdp"/><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3.xml"/><Relationship Id="rId6" Type="http://schemas.microsoft.com/office/2007/relationships/hdphoto" Target="../media/hdphoto4.wdp"/><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microsoft.com/office/2007/relationships/hdphoto" Target="../media/hdphoto6.wdp"/><Relationship Id="rId7" Type="http://schemas.microsoft.com/office/2007/relationships/hdphoto" Target="../media/hdphoto7.wdp"/><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microsoft.com/office/2007/relationships/hdphoto" Target="../media/hdphoto8.wdp"/><Relationship Id="rId7"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3.xml"/><Relationship Id="rId6" Type="http://schemas.microsoft.com/office/2007/relationships/hdphoto" Target="../media/hdphoto9.wdp"/><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microsoft.com/office/2007/relationships/hdphoto" Target="../media/hdphoto10.wdp"/><Relationship Id="rId7"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3.xml"/><Relationship Id="rId6" Type="http://schemas.microsoft.com/office/2007/relationships/hdphoto" Target="../media/hdphoto11.wdp"/><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32.png"/><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microsoft.com/office/2007/relationships/hdphoto" Target="../media/hdphoto13.wdp"/><Relationship Id="rId7"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3.xml"/><Relationship Id="rId6" Type="http://schemas.microsoft.com/office/2007/relationships/hdphoto" Target="../media/hdphoto14.wdp"/><Relationship Id="rId5" Type="http://schemas.openxmlformats.org/officeDocument/2006/relationships/image" Target="../media/image36.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3" Type="http://schemas.microsoft.com/office/2007/relationships/hdphoto" Target="../media/hdphoto15.wdp"/><Relationship Id="rId7"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3.xml"/><Relationship Id="rId6" Type="http://schemas.microsoft.com/office/2007/relationships/hdphoto" Target="../media/hdphoto16.wdp"/><Relationship Id="rId5" Type="http://schemas.openxmlformats.org/officeDocument/2006/relationships/image" Target="../media/image40.png"/><Relationship Id="rId10" Type="http://schemas.openxmlformats.org/officeDocument/2006/relationships/image" Target="../media/image43.png"/><Relationship Id="rId4" Type="http://schemas.openxmlformats.org/officeDocument/2006/relationships/image" Target="../media/image39.png"/><Relationship Id="rId9" Type="http://schemas.microsoft.com/office/2007/relationships/hdphoto" Target="../media/hdphoto17.wdp"/></Relationships>
</file>

<file path=ppt/slides/_rels/slide18.xml.rels><?xml version="1.0" encoding="UTF-8" standalone="yes"?>
<Relationships xmlns="http://schemas.openxmlformats.org/package/2006/relationships"><Relationship Id="rId3" Type="http://schemas.microsoft.com/office/2007/relationships/hdphoto" Target="../media/hdphoto18.wdp"/><Relationship Id="rId7" Type="http://schemas.openxmlformats.org/officeDocument/2006/relationships/image" Target="../media/image47.png"/><Relationship Id="rId2" Type="http://schemas.openxmlformats.org/officeDocument/2006/relationships/image" Target="../media/image44.png"/><Relationship Id="rId1" Type="http://schemas.openxmlformats.org/officeDocument/2006/relationships/slideLayout" Target="../slideLayouts/slideLayout3.xml"/><Relationship Id="rId6" Type="http://schemas.microsoft.com/office/2007/relationships/hdphoto" Target="../media/hdphoto19.wdp"/><Relationship Id="rId5" Type="http://schemas.openxmlformats.org/officeDocument/2006/relationships/image" Target="../media/image46.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microsoft.com/office/2007/relationships/hdphoto" Target="../media/hdphoto20.wdp"/><Relationship Id="rId7" Type="http://schemas.openxmlformats.org/officeDocument/2006/relationships/image" Target="../media/image51.png"/><Relationship Id="rId2" Type="http://schemas.openxmlformats.org/officeDocument/2006/relationships/image" Target="../media/image48.png"/><Relationship Id="rId1" Type="http://schemas.openxmlformats.org/officeDocument/2006/relationships/slideLayout" Target="../slideLayouts/slideLayout3.xml"/><Relationship Id="rId6" Type="http://schemas.microsoft.com/office/2007/relationships/hdphoto" Target="../media/hdphoto21.wdp"/><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4" y="3429000"/>
            <a:ext cx="7246189"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2400" b="1" i="0" u="none" strike="noStrike" cap="none" dirty="0">
                <a:solidFill>
                  <a:schemeClr val="tx1">
                    <a:lumMod val="95000"/>
                    <a:lumOff val="5000"/>
                  </a:schemeClr>
                </a:solidFill>
                <a:latin typeface="Times New Roman" panose="02020603050405020304" pitchFamily="18" charset="0"/>
                <a:ea typeface="Calibri"/>
                <a:cs typeface="Times New Roman" panose="02020603050405020304" pitchFamily="18" charset="0"/>
                <a:sym typeface="Calibri"/>
              </a:rPr>
            </a:br>
            <a:r>
              <a:rPr lang="en-IN" sz="2400" b="1" dirty="0">
                <a:solidFill>
                  <a:schemeClr val="tx1">
                    <a:lumMod val="95000"/>
                    <a:lumOff val="5000"/>
                  </a:schemeClr>
                </a:solidFill>
                <a:latin typeface="Times New Roman" panose="02020603050405020304" pitchFamily="18" charset="0"/>
                <a:ea typeface="Calibri"/>
                <a:cs typeface="Times New Roman" panose="02020603050405020304" pitchFamily="18" charset="0"/>
                <a:sym typeface="Calibri"/>
              </a:rPr>
              <a:t>EMPLOYEE MANAGEMENT SYSTEM</a:t>
            </a:r>
            <a:endParaRPr sz="2400" b="1" i="0" u="none" strike="noStrike" cap="none" dirty="0">
              <a:solidFill>
                <a:schemeClr val="tx1">
                  <a:lumMod val="95000"/>
                  <a:lumOff val="5000"/>
                </a:schemeClr>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AF4CB-B5EF-409B-8792-B7F3CF262F30}"/>
              </a:ext>
            </a:extLst>
          </p:cNvPr>
          <p:cNvSpPr>
            <a:spLocks noGrp="1"/>
          </p:cNvSpPr>
          <p:nvPr>
            <p:ph type="title"/>
          </p:nvPr>
        </p:nvSpPr>
        <p:spPr>
          <a:xfrm>
            <a:off x="838200" y="211016"/>
            <a:ext cx="10515600" cy="675250"/>
          </a:xfrm>
        </p:spPr>
        <p:txBody>
          <a:bodyPr>
            <a:normAutofit fontScale="90000"/>
          </a:bodyPr>
          <a:lstStyle/>
          <a:p>
            <a:r>
              <a:rPr lang="en-US" b="1" u="sng" dirty="0">
                <a:solidFill>
                  <a:srgbClr val="FF0000"/>
                </a:solidFill>
                <a:latin typeface="Times New Roman" panose="02020603050405020304" pitchFamily="18" charset="0"/>
                <a:cs typeface="Times New Roman" panose="02020603050405020304" pitchFamily="18" charset="0"/>
              </a:rPr>
              <a:t>INTRODUCTION</a:t>
            </a:r>
            <a:endParaRPr lang="en-IN" b="1" u="sng"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052E032-C6CE-48B5-B243-703EBA003A21}"/>
              </a:ext>
            </a:extLst>
          </p:cNvPr>
          <p:cNvSpPr>
            <a:spLocks noGrp="1"/>
          </p:cNvSpPr>
          <p:nvPr>
            <p:ph type="body" idx="1"/>
          </p:nvPr>
        </p:nvSpPr>
        <p:spPr>
          <a:xfrm>
            <a:off x="717452" y="773723"/>
            <a:ext cx="10860259" cy="5486400"/>
          </a:xfrm>
        </p:spPr>
        <p:txBody>
          <a:bodyPr>
            <a:normAutofit fontScale="55000" lnSpcReduction="20000"/>
          </a:bodyPr>
          <a:lstStyle/>
          <a:p>
            <a:pPr marL="114300" indent="0" rtl="0">
              <a:spcBef>
                <a:spcPts val="1200"/>
              </a:spcBef>
              <a:spcAft>
                <a:spcPts val="1200"/>
              </a:spcAft>
              <a:buNone/>
            </a:pPr>
            <a:r>
              <a:rPr lang="en-US" sz="3500" b="0" i="0" u="none" strike="noStrike" dirty="0">
                <a:solidFill>
                  <a:srgbClr val="000000"/>
                </a:solidFill>
                <a:effectLst/>
                <a:latin typeface="Times New Roman" panose="02020603050405020304" pitchFamily="18" charset="0"/>
                <a:cs typeface="Times New Roman" panose="02020603050405020304" pitchFamily="18" charset="0"/>
              </a:rPr>
              <a:t>The </a:t>
            </a:r>
            <a:r>
              <a:rPr lang="en-US" sz="3500" b="1" i="0" u="none" strike="noStrike" dirty="0">
                <a:solidFill>
                  <a:srgbClr val="000000"/>
                </a:solidFill>
                <a:effectLst/>
                <a:latin typeface="Times New Roman" panose="02020603050405020304" pitchFamily="18" charset="0"/>
                <a:cs typeface="Times New Roman" panose="02020603050405020304" pitchFamily="18" charset="0"/>
              </a:rPr>
              <a:t>Employee Management System</a:t>
            </a:r>
            <a:r>
              <a:rPr lang="en-US" sz="3500" b="0" i="0" u="none" strike="noStrike" dirty="0">
                <a:solidFill>
                  <a:srgbClr val="000000"/>
                </a:solidFill>
                <a:effectLst/>
                <a:latin typeface="Times New Roman" panose="02020603050405020304" pitchFamily="18" charset="0"/>
                <a:cs typeface="Times New Roman" panose="02020603050405020304" pitchFamily="18" charset="0"/>
              </a:rPr>
              <a:t> (EMS) is designed to streamline the management of employee data, job roles, and departmental information within an organization. This system allows for efficient tracking of employee details, job assignments, qualifications, and performance </a:t>
            </a:r>
            <a:r>
              <a:rPr lang="en-US" sz="3500" b="0" i="0" u="none" strike="noStrike" dirty="0">
                <a:solidFill>
                  <a:srgbClr val="000000"/>
                </a:solidFill>
                <a:latin typeface="Times New Roman" panose="02020603050405020304" pitchFamily="18" charset="0"/>
                <a:cs typeface="Times New Roman" panose="02020603050405020304" pitchFamily="18" charset="0"/>
              </a:rPr>
              <a:t>metrics</a:t>
            </a:r>
            <a:r>
              <a:rPr lang="en-US" sz="3500" dirty="0">
                <a:solidFill>
                  <a:srgbClr val="000000"/>
                </a:solidFill>
                <a:latin typeface="Times New Roman" panose="02020603050405020304" pitchFamily="18" charset="0"/>
                <a:cs typeface="Times New Roman" panose="02020603050405020304" pitchFamily="18" charset="0"/>
              </a:rPr>
              <a:t>.</a:t>
            </a:r>
          </a:p>
          <a:p>
            <a:pPr marL="114300" indent="0">
              <a:spcBef>
                <a:spcPts val="1200"/>
              </a:spcBef>
              <a:spcAft>
                <a:spcPts val="1200"/>
              </a:spcAft>
              <a:buNone/>
            </a:pPr>
            <a:r>
              <a:rPr lang="en-US" sz="3200" b="1" i="0" u="none" strike="noStrike" dirty="0">
                <a:solidFill>
                  <a:srgbClr val="000000"/>
                </a:solidFill>
                <a:effectLst/>
                <a:latin typeface="Times New Roman" panose="02020603050405020304" pitchFamily="18" charset="0"/>
                <a:cs typeface="Times New Roman" panose="02020603050405020304" pitchFamily="18" charset="0"/>
              </a:rPr>
              <a:t>Key domain knowledge elements for this system include:</a:t>
            </a:r>
          </a:p>
          <a:p>
            <a:pPr>
              <a:spcBef>
                <a:spcPts val="1200"/>
              </a:spcBef>
              <a:spcAft>
                <a:spcPts val="1200"/>
              </a:spcAft>
            </a:pPr>
            <a:r>
              <a:rPr lang="en-US" sz="3600" i="0" u="none" strike="noStrike" dirty="0">
                <a:solidFill>
                  <a:srgbClr val="000000"/>
                </a:solidFill>
                <a:effectLst/>
                <a:latin typeface="Times New Roman" panose="02020603050405020304" pitchFamily="18" charset="0"/>
                <a:cs typeface="Times New Roman" panose="02020603050405020304" pitchFamily="18" charset="0"/>
              </a:rPr>
              <a:t>Employee Information Management</a:t>
            </a:r>
          </a:p>
          <a:p>
            <a:pPr>
              <a:spcBef>
                <a:spcPts val="1200"/>
              </a:spcBef>
              <a:spcAft>
                <a:spcPts val="1200"/>
              </a:spcAft>
            </a:pPr>
            <a:r>
              <a:rPr lang="en-US" sz="3600" i="0" u="none" strike="noStrike" dirty="0">
                <a:solidFill>
                  <a:srgbClr val="000000"/>
                </a:solidFill>
                <a:effectLst/>
                <a:latin typeface="Times New Roman" panose="02020603050405020304" pitchFamily="18" charset="0"/>
                <a:cs typeface="Times New Roman" panose="02020603050405020304" pitchFamily="18" charset="0"/>
              </a:rPr>
              <a:t>Job Role Assignment</a:t>
            </a:r>
          </a:p>
          <a:p>
            <a:pPr>
              <a:spcBef>
                <a:spcPts val="1200"/>
              </a:spcBef>
              <a:spcAft>
                <a:spcPts val="1200"/>
              </a:spcAft>
            </a:pPr>
            <a:r>
              <a:rPr lang="en-US" sz="3600" i="0" u="none" strike="noStrike" dirty="0">
                <a:solidFill>
                  <a:srgbClr val="000000"/>
                </a:solidFill>
                <a:effectLst/>
                <a:latin typeface="Times New Roman" panose="02020603050405020304" pitchFamily="18" charset="0"/>
                <a:cs typeface="Times New Roman" panose="02020603050405020304" pitchFamily="18" charset="0"/>
              </a:rPr>
              <a:t>Departmental Structure</a:t>
            </a:r>
          </a:p>
          <a:p>
            <a:pPr>
              <a:spcBef>
                <a:spcPts val="1200"/>
              </a:spcBef>
              <a:spcAft>
                <a:spcPts val="1200"/>
              </a:spcAft>
            </a:pPr>
            <a:r>
              <a:rPr lang="en-US" sz="3600" i="0" u="none" strike="noStrike" dirty="0">
                <a:solidFill>
                  <a:srgbClr val="000000"/>
                </a:solidFill>
                <a:effectLst/>
                <a:latin typeface="Times New Roman" panose="02020603050405020304" pitchFamily="18" charset="0"/>
                <a:cs typeface="Times New Roman" panose="02020603050405020304" pitchFamily="18" charset="0"/>
              </a:rPr>
              <a:t>Payroll and Compensation</a:t>
            </a:r>
          </a:p>
          <a:p>
            <a:pPr>
              <a:spcBef>
                <a:spcPts val="1200"/>
              </a:spcBef>
              <a:spcAft>
                <a:spcPts val="1200"/>
              </a:spcAft>
            </a:pPr>
            <a:r>
              <a:rPr lang="en-US" sz="3600" i="0" u="none" strike="noStrike" dirty="0">
                <a:solidFill>
                  <a:srgbClr val="000000"/>
                </a:solidFill>
                <a:effectLst/>
                <a:latin typeface="Times New Roman" panose="02020603050405020304" pitchFamily="18" charset="0"/>
                <a:cs typeface="Times New Roman" panose="02020603050405020304" pitchFamily="18" charset="0"/>
              </a:rPr>
              <a:t>Qualifications and Skills Tracking</a:t>
            </a:r>
          </a:p>
          <a:p>
            <a:pPr>
              <a:spcBef>
                <a:spcPts val="1200"/>
              </a:spcBef>
              <a:spcAft>
                <a:spcPts val="1200"/>
              </a:spcAft>
            </a:pPr>
            <a:r>
              <a:rPr lang="en-US" sz="3600" i="0" u="none" strike="noStrike" dirty="0">
                <a:solidFill>
                  <a:srgbClr val="000000"/>
                </a:solidFill>
                <a:effectLst/>
                <a:latin typeface="Times New Roman" panose="02020603050405020304" pitchFamily="18" charset="0"/>
                <a:cs typeface="Times New Roman" panose="02020603050405020304" pitchFamily="18" charset="0"/>
              </a:rPr>
              <a:t>Leave and Absence Management</a:t>
            </a:r>
          </a:p>
          <a:p>
            <a:pPr marL="114300" indent="0" rtl="0">
              <a:spcBef>
                <a:spcPts val="1200"/>
              </a:spcBef>
              <a:spcAft>
                <a:spcPts val="1200"/>
              </a:spcAft>
              <a:buNone/>
            </a:pPr>
            <a:r>
              <a:rPr lang="en-US" sz="3600" b="0" i="0" u="none" strike="noStrike" dirty="0">
                <a:solidFill>
                  <a:srgbClr val="000000"/>
                </a:solidFill>
                <a:effectLst/>
                <a:latin typeface="Times New Roman" panose="02020603050405020304" pitchFamily="18" charset="0"/>
                <a:cs typeface="Times New Roman" panose="02020603050405020304" pitchFamily="18" charset="0"/>
              </a:rPr>
              <a:t>This system ensures that all employee-related information is stored securely, easily accessible for reporting, and aligned with organizational goals for performance, compensation, and growth.</a:t>
            </a:r>
            <a:endParaRPr lang="en-US" sz="3600" i="0" u="none" strike="noStrike" dirty="0">
              <a:solidFill>
                <a:srgbClr val="000000"/>
              </a:solidFill>
              <a:effectLst/>
              <a:latin typeface="Times New Roman" panose="02020603050405020304" pitchFamily="18" charset="0"/>
              <a:cs typeface="Times New Roman" panose="02020603050405020304" pitchFamily="18" charset="0"/>
            </a:endParaRPr>
          </a:p>
          <a:p>
            <a:pPr marL="114300" indent="0">
              <a:spcBef>
                <a:spcPts val="1200"/>
              </a:spcBef>
              <a:spcAft>
                <a:spcPts val="1200"/>
              </a:spcAft>
              <a:buNone/>
            </a:pPr>
            <a:endParaRPr lang="en-US" sz="2600" i="0" u="none" strike="noStrike" dirty="0">
              <a:solidFill>
                <a:srgbClr val="000000"/>
              </a:solidFill>
              <a:effectLst/>
              <a:latin typeface="Times New Roman" panose="02020603050405020304" pitchFamily="18" charset="0"/>
              <a:cs typeface="Times New Roman" panose="02020603050405020304" pitchFamily="18" charset="0"/>
            </a:endParaRPr>
          </a:p>
          <a:p>
            <a:pPr>
              <a:spcBef>
                <a:spcPts val="1200"/>
              </a:spcBef>
              <a:spcAft>
                <a:spcPts val="1200"/>
              </a:spcAft>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5539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454B02-66F3-4160-B659-7306F185D9AA}"/>
              </a:ext>
            </a:extLst>
          </p:cNvPr>
          <p:cNvSpPr>
            <a:spLocks noGrp="1"/>
          </p:cNvSpPr>
          <p:nvPr>
            <p:ph type="title"/>
          </p:nvPr>
        </p:nvSpPr>
        <p:spPr>
          <a:xfrm>
            <a:off x="576775" y="267287"/>
            <a:ext cx="10777025" cy="928468"/>
          </a:xfrm>
        </p:spPr>
        <p:txBody>
          <a:bodyPr/>
          <a:lstStyle/>
          <a:p>
            <a:r>
              <a:rPr lang="en-US" b="1" dirty="0">
                <a:solidFill>
                  <a:srgbClr val="FF0000"/>
                </a:solidFill>
                <a:latin typeface="Times New Roman" panose="02020603050405020304" pitchFamily="18" charset="0"/>
                <a:cs typeface="Times New Roman" panose="02020603050405020304" pitchFamily="18" charset="0"/>
              </a:rPr>
              <a:t>PROBLEM STATEMENT</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DEA27A92-41AE-482C-9551-B024ED4CF3E1}"/>
              </a:ext>
            </a:extLst>
          </p:cNvPr>
          <p:cNvSpPr>
            <a:spLocks noGrp="1"/>
          </p:cNvSpPr>
          <p:nvPr>
            <p:ph type="body" idx="1"/>
          </p:nvPr>
        </p:nvSpPr>
        <p:spPr>
          <a:xfrm>
            <a:off x="689317" y="1055077"/>
            <a:ext cx="10664483" cy="5121886"/>
          </a:xfrm>
        </p:spPr>
        <p:txBody>
          <a:bodyPr>
            <a:normAutofit/>
          </a:bodyPr>
          <a:lstStyle/>
          <a:p>
            <a:pPr rtl="0">
              <a:spcBef>
                <a:spcPts val="1200"/>
              </a:spcBef>
              <a:spcAft>
                <a:spcPts val="1200"/>
              </a:spcAft>
            </a:pP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p>
            <a:pPr rtl="0">
              <a:spcBef>
                <a:spcPts val="1200"/>
              </a:spcBef>
              <a:spcAft>
                <a:spcPts val="120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The objective of this project is to design and implement an </a:t>
            </a:r>
            <a:r>
              <a:rPr lang="en-US" sz="2000" b="1" i="0" u="none" strike="noStrike" dirty="0">
                <a:solidFill>
                  <a:srgbClr val="000000"/>
                </a:solidFill>
                <a:effectLst/>
                <a:latin typeface="Times New Roman" panose="02020603050405020304" pitchFamily="18" charset="0"/>
                <a:cs typeface="Times New Roman" panose="02020603050405020304" pitchFamily="18" charset="0"/>
              </a:rPr>
              <a:t>Employee Management System</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that efficiently stores and manages employee-related data within an organization. The system needs to track various aspects of employee information, including personal details, job roles, salary structures, qualifications, leave records, and payroll data. The system should ensure the integrity and consistency of data by using relational tables with appropriate foreign keys and cascading actions.</a:t>
            </a:r>
            <a:endParaRPr lang="en-US" sz="2000" b="0" dirty="0">
              <a:effectLst/>
              <a:latin typeface="Times New Roman" panose="02020603050405020304" pitchFamily="18" charset="0"/>
              <a:cs typeface="Times New Roman" panose="02020603050405020304" pitchFamily="18" charset="0"/>
            </a:endParaRPr>
          </a:p>
          <a:p>
            <a:pPr rtl="0">
              <a:spcBef>
                <a:spcPts val="1200"/>
              </a:spcBef>
              <a:spcAft>
                <a:spcPts val="120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The system should allow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endParaRPr lang="en-US" sz="20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233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95077-71DC-4144-AE73-F320E014996B}"/>
              </a:ext>
            </a:extLst>
          </p:cNvPr>
          <p:cNvSpPr>
            <a:spLocks noGrp="1"/>
          </p:cNvSpPr>
          <p:nvPr>
            <p:ph type="title"/>
          </p:nvPr>
        </p:nvSpPr>
        <p:spPr>
          <a:xfrm>
            <a:off x="450166" y="365125"/>
            <a:ext cx="10903634" cy="661817"/>
          </a:xfrm>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OBJECTIVES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0FF138B-F986-400D-8AA0-8F2F296E1730}"/>
              </a:ext>
            </a:extLst>
          </p:cNvPr>
          <p:cNvSpPr>
            <a:spLocks noGrp="1"/>
          </p:cNvSpPr>
          <p:nvPr>
            <p:ph type="body" idx="1"/>
          </p:nvPr>
        </p:nvSpPr>
        <p:spPr>
          <a:xfrm>
            <a:off x="450166" y="1026942"/>
            <a:ext cx="11291668" cy="5150021"/>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The main objective of this project is to design and implement a database-driven Employee Management System that efficiently stores and manages employee-related information.</a:t>
            </a:r>
          </a:p>
          <a:p>
            <a:r>
              <a:rPr lang="en-US" dirty="0">
                <a:latin typeface="Times New Roman" panose="02020603050405020304" pitchFamily="18" charset="0"/>
                <a:cs typeface="Times New Roman" panose="02020603050405020304" pitchFamily="18" charset="0"/>
              </a:rPr>
              <a:t>This system helps organizations maintain important data such as employee details, job roles, department information, salary, qualifications, leave records, and payroll data in a structured way.</a:t>
            </a:r>
          </a:p>
          <a:p>
            <a:r>
              <a:rPr lang="en-US" dirty="0">
                <a:latin typeface="Times New Roman" panose="02020603050405020304" pitchFamily="18" charset="0"/>
                <a:cs typeface="Times New Roman" panose="02020603050405020304" pitchFamily="18" charset="0"/>
              </a:rPr>
              <a:t>By using </a:t>
            </a:r>
            <a:r>
              <a:rPr lang="en-US" b="1" dirty="0">
                <a:latin typeface="Times New Roman" panose="02020603050405020304" pitchFamily="18" charset="0"/>
                <a:cs typeface="Times New Roman" panose="02020603050405020304" pitchFamily="18" charset="0"/>
              </a:rPr>
              <a:t>SQL and relational database design</a:t>
            </a:r>
            <a:r>
              <a:rPr lang="en-US" dirty="0">
                <a:latin typeface="Times New Roman" panose="02020603050405020304" pitchFamily="18" charset="0"/>
                <a:cs typeface="Times New Roman" panose="02020603050405020304" pitchFamily="18" charset="0"/>
              </a:rPr>
              <a:t>, the system ensures data accuracy, avoids duplication, and maintains relationships between different tables.</a:t>
            </a:r>
          </a:p>
          <a:p>
            <a:r>
              <a:rPr lang="en-US" dirty="0">
                <a:latin typeface="Times New Roman" panose="02020603050405020304" pitchFamily="18" charset="0"/>
                <a:cs typeface="Times New Roman" panose="02020603050405020304" pitchFamily="18" charset="0"/>
              </a:rPr>
              <a:t>The project also allows us to </a:t>
            </a:r>
            <a:r>
              <a:rPr lang="en-US" b="1" dirty="0">
                <a:latin typeface="Times New Roman" panose="02020603050405020304" pitchFamily="18" charset="0"/>
                <a:cs typeface="Times New Roman" panose="02020603050405020304" pitchFamily="18" charset="0"/>
              </a:rPr>
              <a:t>analyze employee data</a:t>
            </a:r>
            <a:r>
              <a:rPr lang="en-US" dirty="0">
                <a:latin typeface="Times New Roman" panose="02020603050405020304" pitchFamily="18" charset="0"/>
                <a:cs typeface="Times New Roman" panose="02020603050405020304" pitchFamily="18" charset="0"/>
              </a:rPr>
              <a:t>, generate useful insights such as department-wise employee count, salary distribution, and leave patterns, which helps management make better decisions.</a:t>
            </a:r>
          </a:p>
          <a:p>
            <a:r>
              <a:rPr lang="en-US" dirty="0">
                <a:latin typeface="Times New Roman" panose="02020603050405020304" pitchFamily="18" charset="0"/>
                <a:cs typeface="Times New Roman" panose="02020603050405020304" pitchFamily="18" charset="0"/>
              </a:rPr>
              <a:t>Overall, the system improves data organization, efficiency, and reporting capabilities for HR operations.</a:t>
            </a:r>
          </a:p>
          <a:p>
            <a:pPr marL="114300" indent="0">
              <a:buNone/>
            </a:pPr>
            <a:endParaRPr lang="en-IN" dirty="0"/>
          </a:p>
        </p:txBody>
      </p:sp>
    </p:spTree>
    <p:extLst>
      <p:ext uri="{BB962C8B-B14F-4D97-AF65-F5344CB8AC3E}">
        <p14:creationId xmlns:p14="http://schemas.microsoft.com/office/powerpoint/2010/main" val="518016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9E910-55FD-45B8-AEF8-EDBDD4FBCB86}"/>
              </a:ext>
            </a:extLst>
          </p:cNvPr>
          <p:cNvSpPr>
            <a:spLocks noGrp="1"/>
          </p:cNvSpPr>
          <p:nvPr>
            <p:ph type="title"/>
          </p:nvPr>
        </p:nvSpPr>
        <p:spPr>
          <a:xfrm>
            <a:off x="838200" y="365125"/>
            <a:ext cx="10515600" cy="732155"/>
          </a:xfrm>
        </p:spPr>
        <p:txBody>
          <a:bodyPr/>
          <a:lstStyle/>
          <a:p>
            <a:r>
              <a:rPr lang="en-US" b="1" dirty="0">
                <a:solidFill>
                  <a:srgbClr val="FF0000"/>
                </a:solidFill>
                <a:latin typeface="Times New Roman" panose="02020603050405020304" pitchFamily="18" charset="0"/>
                <a:cs typeface="Times New Roman" panose="02020603050405020304" pitchFamily="18" charset="0"/>
              </a:rPr>
              <a:t>TABLES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AFA782E-70B8-430E-AD0E-5FAC3D35D641}"/>
              </a:ext>
            </a:extLst>
          </p:cNvPr>
          <p:cNvSpPr>
            <a:spLocks noGrp="1"/>
          </p:cNvSpPr>
          <p:nvPr>
            <p:ph type="body" idx="1"/>
          </p:nvPr>
        </p:nvSpPr>
        <p:spPr>
          <a:xfrm>
            <a:off x="838200" y="998806"/>
            <a:ext cx="10515600" cy="5178157"/>
          </a:xfrm>
        </p:spPr>
        <p:txBody>
          <a:bodyPr/>
          <a:lstStyle/>
          <a:p>
            <a:pPr marL="114300" indent="0">
              <a:buNone/>
            </a:pPr>
            <a:r>
              <a:rPr lang="en-US" dirty="0"/>
              <a:t>.</a:t>
            </a:r>
            <a:endParaRPr lang="en-IN" dirty="0"/>
          </a:p>
        </p:txBody>
      </p:sp>
      <p:graphicFrame>
        <p:nvGraphicFramePr>
          <p:cNvPr id="7" name="Table 7">
            <a:extLst>
              <a:ext uri="{FF2B5EF4-FFF2-40B4-BE49-F238E27FC236}">
                <a16:creationId xmlns:a16="http://schemas.microsoft.com/office/drawing/2014/main" id="{FA254380-E45C-40EA-9004-3A935EEC5BFB}"/>
              </a:ext>
            </a:extLst>
          </p:cNvPr>
          <p:cNvGraphicFramePr>
            <a:graphicFrameLocks noGrp="1"/>
          </p:cNvGraphicFramePr>
          <p:nvPr>
            <p:extLst>
              <p:ext uri="{D42A27DB-BD31-4B8C-83A1-F6EECF244321}">
                <p14:modId xmlns:p14="http://schemas.microsoft.com/office/powerpoint/2010/main" val="2693817364"/>
              </p:ext>
            </p:extLst>
          </p:nvPr>
        </p:nvGraphicFramePr>
        <p:xfrm>
          <a:off x="1209822" y="1730961"/>
          <a:ext cx="9762978" cy="3888315"/>
        </p:xfrm>
        <a:graphic>
          <a:graphicData uri="http://schemas.openxmlformats.org/drawingml/2006/table">
            <a:tbl>
              <a:tblPr firstRow="1" bandRow="1">
                <a:tableStyleId>{5C22544A-7EE6-4342-B048-85BDC9FD1C3A}</a:tableStyleId>
              </a:tblPr>
              <a:tblGrid>
                <a:gridCol w="3123027">
                  <a:extLst>
                    <a:ext uri="{9D8B030D-6E8A-4147-A177-3AD203B41FA5}">
                      <a16:colId xmlns:a16="http://schemas.microsoft.com/office/drawing/2014/main" val="2316548455"/>
                    </a:ext>
                  </a:extLst>
                </a:gridCol>
                <a:gridCol w="6639951">
                  <a:extLst>
                    <a:ext uri="{9D8B030D-6E8A-4147-A177-3AD203B41FA5}">
                      <a16:colId xmlns:a16="http://schemas.microsoft.com/office/drawing/2014/main" val="2916045128"/>
                    </a:ext>
                  </a:extLst>
                </a:gridCol>
              </a:tblGrid>
              <a:tr h="519870">
                <a:tc>
                  <a:txBody>
                    <a:bodyPr/>
                    <a:lstStyle/>
                    <a:p>
                      <a:pPr algn="ctr"/>
                      <a:r>
                        <a:rPr lang="en-IN" sz="2000" b="1" i="0" u="none" strike="noStrike" cap="none" dirty="0">
                          <a:solidFill>
                            <a:schemeClr val="lt1"/>
                          </a:solidFill>
                          <a:effectLst/>
                          <a:latin typeface="Times New Roman" panose="02020603050405020304" pitchFamily="18" charset="0"/>
                          <a:ea typeface="+mn-ea"/>
                          <a:cs typeface="Times New Roman" panose="02020603050405020304" pitchFamily="18" charset="0"/>
                          <a:sym typeface="Arial"/>
                        </a:rPr>
                        <a:t>Table name</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IN" sz="2000" b="1" i="0" u="none" strike="noStrike" cap="none" dirty="0">
                          <a:solidFill>
                            <a:schemeClr val="lt1"/>
                          </a:solidFill>
                          <a:effectLst/>
                          <a:latin typeface="Times New Roman" panose="02020603050405020304" pitchFamily="18" charset="0"/>
                          <a:ea typeface="+mn-ea"/>
                          <a:cs typeface="Times New Roman" panose="02020603050405020304" pitchFamily="18" charset="0"/>
                          <a:sym typeface="Arial"/>
                        </a:rPr>
                        <a:t>Description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9408875"/>
                  </a:ext>
                </a:extLst>
              </a:tr>
              <a:tr h="538561">
                <a:tc>
                  <a:txBody>
                    <a:bodyPr/>
                    <a:lstStyle/>
                    <a:p>
                      <a:pPr rtl="0" fontAlgn="t">
                        <a:spcBef>
                          <a:spcPts val="0"/>
                        </a:spcBef>
                        <a:spcAft>
                          <a:spcPts val="0"/>
                        </a:spcAft>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JobDepartment</a:t>
                      </a:r>
                      <a:endParaRPr lang="en-IN" sz="2000" b="1"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spcBef>
                          <a:spcPts val="0"/>
                        </a:spcBef>
                        <a:spcAft>
                          <a:spcPts val="0"/>
                        </a:spcAft>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Stores job roles, departments, and related salary ranges</a:t>
                      </a:r>
                      <a:endParaRPr lang="en-US" sz="18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932351895"/>
                  </a:ext>
                </a:extLst>
              </a:tr>
              <a:tr h="538561">
                <a:tc>
                  <a:txBody>
                    <a:bodyPr/>
                    <a:lstStyle/>
                    <a:p>
                      <a:pPr rtl="0" fontAlgn="t">
                        <a:spcBef>
                          <a:spcPts val="0"/>
                        </a:spcBef>
                        <a:spcAft>
                          <a:spcPts val="0"/>
                        </a:spcAft>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SalaryBonus</a:t>
                      </a:r>
                      <a:endParaRPr lang="en-IN" sz="2000" b="1"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spcBef>
                          <a:spcPts val="0"/>
                        </a:spcBef>
                        <a:spcAft>
                          <a:spcPts val="0"/>
                        </a:spcAft>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Contains salary, bonus, and annual pay linked to specific job roles.</a:t>
                      </a:r>
                      <a:endParaRPr lang="en-US" sz="18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1279909710"/>
                  </a:ext>
                </a:extLst>
              </a:tr>
              <a:tr h="538561">
                <a:tc>
                  <a:txBody>
                    <a:bodyPr/>
                    <a:lstStyle/>
                    <a:p>
                      <a:pPr rtl="0" fontAlgn="t">
                        <a:spcBef>
                          <a:spcPts val="0"/>
                        </a:spcBef>
                        <a:spcAft>
                          <a:spcPts val="0"/>
                        </a:spcAft>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Employee</a:t>
                      </a:r>
                      <a:endParaRPr lang="en-IN" sz="2000" b="1"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spcBef>
                          <a:spcPts val="0"/>
                        </a:spcBef>
                        <a:spcAft>
                          <a:spcPts val="0"/>
                        </a:spcAft>
                      </a:pPr>
                      <a:r>
                        <a:rPr lang="en-US" sz="1800" b="0" i="0" u="none" strike="noStrike">
                          <a:solidFill>
                            <a:srgbClr val="000000"/>
                          </a:solidFill>
                          <a:effectLst/>
                          <a:latin typeface="Times New Roman" panose="02020603050405020304" pitchFamily="18" charset="0"/>
                          <a:cs typeface="Times New Roman" panose="02020603050405020304" pitchFamily="18" charset="0"/>
                        </a:rPr>
                        <a:t>Maintains personal, contact, and login details of all employees.</a:t>
                      </a:r>
                      <a:endParaRPr lang="en-US" sz="180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4192296034"/>
                  </a:ext>
                </a:extLst>
              </a:tr>
              <a:tr h="538561">
                <a:tc>
                  <a:txBody>
                    <a:bodyPr/>
                    <a:lstStyle/>
                    <a:p>
                      <a:pPr rtl="0" fontAlgn="t">
                        <a:spcBef>
                          <a:spcPts val="0"/>
                        </a:spcBef>
                        <a:spcAft>
                          <a:spcPts val="0"/>
                        </a:spcAft>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Qualification</a:t>
                      </a:r>
                      <a:endParaRPr lang="en-IN" sz="2000" b="1"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spcBef>
                          <a:spcPts val="0"/>
                        </a:spcBef>
                        <a:spcAft>
                          <a:spcPts val="0"/>
                        </a:spcAft>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Records qualifications and required skills for employee job positions.</a:t>
                      </a:r>
                      <a:endParaRPr lang="en-US" sz="18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495426666"/>
                  </a:ext>
                </a:extLst>
              </a:tr>
              <a:tr h="538561">
                <a:tc>
                  <a:txBody>
                    <a:bodyPr/>
                    <a:lstStyle/>
                    <a:p>
                      <a:pPr rtl="0" fontAlgn="t">
                        <a:spcBef>
                          <a:spcPts val="0"/>
                        </a:spcBef>
                        <a:spcAft>
                          <a:spcPts val="0"/>
                        </a:spcAft>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Leaves</a:t>
                      </a:r>
                      <a:endParaRPr lang="en-IN" sz="2000" b="1"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spcBef>
                          <a:spcPts val="0"/>
                        </a:spcBef>
                        <a:spcAft>
                          <a:spcPts val="0"/>
                        </a:spcAft>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Tracks employee leave records with reasons and dates.</a:t>
                      </a:r>
                      <a:endParaRPr lang="en-US" sz="18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912199479"/>
                  </a:ext>
                </a:extLst>
              </a:tr>
              <a:tr h="538561">
                <a:tc>
                  <a:txBody>
                    <a:bodyPr/>
                    <a:lstStyle/>
                    <a:p>
                      <a:pPr rtl="0" fontAlgn="t">
                        <a:spcBef>
                          <a:spcPts val="0"/>
                        </a:spcBef>
                        <a:spcAft>
                          <a:spcPts val="0"/>
                        </a:spcAft>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Payroll</a:t>
                      </a:r>
                      <a:endParaRPr lang="en-IN" sz="2000" b="1"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rtl="0" fontAlgn="t">
                        <a:spcBef>
                          <a:spcPts val="0"/>
                        </a:spcBef>
                        <a:spcAft>
                          <a:spcPts val="0"/>
                        </a:spcAft>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Combines employee, job, salary, and leave data to calculate net payments.</a:t>
                      </a:r>
                      <a:endParaRPr lang="en-US" sz="18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248914301"/>
                  </a:ext>
                </a:extLst>
              </a:tr>
            </a:tbl>
          </a:graphicData>
        </a:graphic>
      </p:graphicFrame>
    </p:spTree>
    <p:extLst>
      <p:ext uri="{BB962C8B-B14F-4D97-AF65-F5344CB8AC3E}">
        <p14:creationId xmlns:p14="http://schemas.microsoft.com/office/powerpoint/2010/main" val="282673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230EEA-9D84-40CD-B9FF-3D3AD9FC9639}"/>
              </a:ext>
            </a:extLst>
          </p:cNvPr>
          <p:cNvSpPr>
            <a:spLocks noGrp="1"/>
          </p:cNvSpPr>
          <p:nvPr>
            <p:ph type="title"/>
          </p:nvPr>
        </p:nvSpPr>
        <p:spPr>
          <a:xfrm>
            <a:off x="478302" y="365126"/>
            <a:ext cx="10875498" cy="704020"/>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TABLE STRUCTURE</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3E30A84D-7F62-4415-AD1D-61E519D5F2AE}"/>
              </a:ext>
            </a:extLst>
          </p:cNvPr>
          <p:cNvSpPr>
            <a:spLocks noGrp="1"/>
          </p:cNvSpPr>
          <p:nvPr>
            <p:ph type="body" idx="1"/>
          </p:nvPr>
        </p:nvSpPr>
        <p:spPr>
          <a:xfrm>
            <a:off x="590843" y="1069146"/>
            <a:ext cx="11122855" cy="5107817"/>
          </a:xfrm>
        </p:spPr>
        <p:txBody>
          <a:bodyPr/>
          <a:lstStyle/>
          <a:p>
            <a:pPr marL="114300" indent="0">
              <a:buNone/>
            </a:pPr>
            <a:r>
              <a:rPr lang="en-US" dirty="0"/>
              <a:t> </a:t>
            </a:r>
            <a:r>
              <a:rPr lang="en-US" sz="2400" b="1" dirty="0">
                <a:latin typeface="Times New Roman" panose="02020603050405020304" pitchFamily="18" charset="0"/>
                <a:cs typeface="Times New Roman" panose="02020603050405020304" pitchFamily="18" charset="0"/>
              </a:rPr>
              <a:t>JOBDEPARTMENT</a:t>
            </a:r>
            <a:endParaRPr lang="en-IN"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B403F0B-B8FF-43D8-BCE4-96097BC7A74E}"/>
              </a:ext>
            </a:extLst>
          </p:cNvPr>
          <p:cNvPicPr>
            <a:picLocks noChangeAspect="1"/>
          </p:cNvPicPr>
          <p:nvPr/>
        </p:nvPicPr>
        <p:blipFill>
          <a:blip r:embed="rId2"/>
          <a:stretch>
            <a:fillRect/>
          </a:stretch>
        </p:blipFill>
        <p:spPr>
          <a:xfrm>
            <a:off x="789334" y="1650172"/>
            <a:ext cx="4471867" cy="1315255"/>
          </a:xfrm>
          <a:prstGeom prst="rect">
            <a:avLst/>
          </a:prstGeom>
        </p:spPr>
      </p:pic>
      <p:pic>
        <p:nvPicPr>
          <p:cNvPr id="9" name="Picture 8">
            <a:extLst>
              <a:ext uri="{FF2B5EF4-FFF2-40B4-BE49-F238E27FC236}">
                <a16:creationId xmlns:a16="http://schemas.microsoft.com/office/drawing/2014/main" id="{06EE77EC-CEB6-4D56-9F5A-6F2858DBB940}"/>
              </a:ext>
            </a:extLst>
          </p:cNvPr>
          <p:cNvPicPr>
            <a:picLocks noChangeAspect="1"/>
          </p:cNvPicPr>
          <p:nvPr/>
        </p:nvPicPr>
        <p:blipFill>
          <a:blip r:embed="rId3"/>
          <a:stretch>
            <a:fillRect/>
          </a:stretch>
        </p:blipFill>
        <p:spPr>
          <a:xfrm>
            <a:off x="896793" y="3669447"/>
            <a:ext cx="4725726" cy="1776790"/>
          </a:xfrm>
          <a:prstGeom prst="rect">
            <a:avLst/>
          </a:prstGeom>
        </p:spPr>
      </p:pic>
      <p:sp>
        <p:nvSpPr>
          <p:cNvPr id="10" name="TextBox 9">
            <a:extLst>
              <a:ext uri="{FF2B5EF4-FFF2-40B4-BE49-F238E27FC236}">
                <a16:creationId xmlns:a16="http://schemas.microsoft.com/office/drawing/2014/main" id="{57093E3B-B3D3-4B08-B5A7-1A2D972498E5}"/>
              </a:ext>
            </a:extLst>
          </p:cNvPr>
          <p:cNvSpPr txBox="1"/>
          <p:nvPr/>
        </p:nvSpPr>
        <p:spPr>
          <a:xfrm>
            <a:off x="896793" y="3188554"/>
            <a:ext cx="350639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SALARYBONUS</a:t>
            </a:r>
            <a:endParaRPr lang="en-IN" sz="2400" b="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187D1CDC-51D0-44D2-AB49-A4E84176ECB0}"/>
              </a:ext>
            </a:extLst>
          </p:cNvPr>
          <p:cNvPicPr>
            <a:picLocks noChangeAspect="1"/>
          </p:cNvPicPr>
          <p:nvPr/>
        </p:nvPicPr>
        <p:blipFill>
          <a:blip r:embed="rId4"/>
          <a:stretch>
            <a:fillRect/>
          </a:stretch>
        </p:blipFill>
        <p:spPr>
          <a:xfrm>
            <a:off x="6492024" y="2103293"/>
            <a:ext cx="4722764" cy="2243623"/>
          </a:xfrm>
          <a:prstGeom prst="rect">
            <a:avLst/>
          </a:prstGeom>
        </p:spPr>
      </p:pic>
      <p:sp>
        <p:nvSpPr>
          <p:cNvPr id="13" name="TextBox 12">
            <a:extLst>
              <a:ext uri="{FF2B5EF4-FFF2-40B4-BE49-F238E27FC236}">
                <a16:creationId xmlns:a16="http://schemas.microsoft.com/office/drawing/2014/main" id="{517A1B10-B3AF-4E29-971E-D6E0DCDCDF50}"/>
              </a:ext>
            </a:extLst>
          </p:cNvPr>
          <p:cNvSpPr txBox="1"/>
          <p:nvPr/>
        </p:nvSpPr>
        <p:spPr>
          <a:xfrm>
            <a:off x="6597748" y="1551227"/>
            <a:ext cx="264472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EMPLOYEE</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6495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C7BEF-F4D6-4356-90A1-6230D5E79302}"/>
              </a:ext>
            </a:extLst>
          </p:cNvPr>
          <p:cNvSpPr>
            <a:spLocks noGrp="1"/>
          </p:cNvSpPr>
          <p:nvPr>
            <p:ph type="title"/>
          </p:nvPr>
        </p:nvSpPr>
        <p:spPr>
          <a:xfrm>
            <a:off x="464234" y="365125"/>
            <a:ext cx="11155680" cy="619613"/>
          </a:xfrm>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TABLE STRUCTURE</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3686DD1-53C5-4B05-A8E1-5D3565E70FCD}"/>
              </a:ext>
            </a:extLst>
          </p:cNvPr>
          <p:cNvSpPr>
            <a:spLocks noGrp="1"/>
          </p:cNvSpPr>
          <p:nvPr>
            <p:ph type="body" idx="1"/>
          </p:nvPr>
        </p:nvSpPr>
        <p:spPr>
          <a:xfrm>
            <a:off x="464234" y="984738"/>
            <a:ext cx="11263532" cy="5192225"/>
          </a:xfrm>
        </p:spPr>
        <p:txBody>
          <a:bodyPr>
            <a:normAutofit/>
          </a:bodyPr>
          <a:lstStyle/>
          <a:p>
            <a:pPr marL="114300" indent="0">
              <a:buNone/>
            </a:pPr>
            <a:r>
              <a:rPr lang="en-US" sz="2400" b="1" dirty="0">
                <a:latin typeface="Times New Roman" panose="02020603050405020304" pitchFamily="18" charset="0"/>
                <a:cs typeface="Times New Roman" panose="02020603050405020304" pitchFamily="18" charset="0"/>
              </a:rPr>
              <a:t>QUALIFICATION</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E02D487-A195-4ED7-AFB8-342B8EAA3CF0}"/>
              </a:ext>
            </a:extLst>
          </p:cNvPr>
          <p:cNvPicPr>
            <a:picLocks noChangeAspect="1"/>
          </p:cNvPicPr>
          <p:nvPr/>
        </p:nvPicPr>
        <p:blipFill>
          <a:blip r:embed="rId2"/>
          <a:stretch>
            <a:fillRect/>
          </a:stretch>
        </p:blipFill>
        <p:spPr>
          <a:xfrm>
            <a:off x="717453" y="1604351"/>
            <a:ext cx="4790996" cy="1687489"/>
          </a:xfrm>
          <a:prstGeom prst="rect">
            <a:avLst/>
          </a:prstGeom>
        </p:spPr>
      </p:pic>
      <p:pic>
        <p:nvPicPr>
          <p:cNvPr id="7" name="Picture 6">
            <a:extLst>
              <a:ext uri="{FF2B5EF4-FFF2-40B4-BE49-F238E27FC236}">
                <a16:creationId xmlns:a16="http://schemas.microsoft.com/office/drawing/2014/main" id="{6662A2C1-8DED-41BC-A670-BA7036F8D93B}"/>
              </a:ext>
            </a:extLst>
          </p:cNvPr>
          <p:cNvPicPr>
            <a:picLocks noChangeAspect="1"/>
          </p:cNvPicPr>
          <p:nvPr/>
        </p:nvPicPr>
        <p:blipFill>
          <a:blip r:embed="rId3"/>
          <a:stretch>
            <a:fillRect/>
          </a:stretch>
        </p:blipFill>
        <p:spPr>
          <a:xfrm>
            <a:off x="717453" y="4015226"/>
            <a:ext cx="4830892" cy="1858036"/>
          </a:xfrm>
          <a:prstGeom prst="rect">
            <a:avLst/>
          </a:prstGeom>
        </p:spPr>
      </p:pic>
      <p:sp>
        <p:nvSpPr>
          <p:cNvPr id="8" name="TextBox 7">
            <a:extLst>
              <a:ext uri="{FF2B5EF4-FFF2-40B4-BE49-F238E27FC236}">
                <a16:creationId xmlns:a16="http://schemas.microsoft.com/office/drawing/2014/main" id="{D61FACE7-2BE6-4827-92AB-513717268CF6}"/>
              </a:ext>
            </a:extLst>
          </p:cNvPr>
          <p:cNvSpPr txBox="1"/>
          <p:nvPr/>
        </p:nvSpPr>
        <p:spPr>
          <a:xfrm>
            <a:off x="717453" y="3580850"/>
            <a:ext cx="298235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LEAVES</a:t>
            </a:r>
            <a:endParaRPr lang="en-I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42E6549-5446-4DB2-BF7F-AE20198A1791}"/>
              </a:ext>
            </a:extLst>
          </p:cNvPr>
          <p:cNvPicPr>
            <a:picLocks noChangeAspect="1"/>
          </p:cNvPicPr>
          <p:nvPr/>
        </p:nvPicPr>
        <p:blipFill>
          <a:blip r:embed="rId4"/>
          <a:stretch>
            <a:fillRect/>
          </a:stretch>
        </p:blipFill>
        <p:spPr>
          <a:xfrm>
            <a:off x="6283387" y="2624025"/>
            <a:ext cx="4701571" cy="2074584"/>
          </a:xfrm>
          <a:prstGeom prst="rect">
            <a:avLst/>
          </a:prstGeom>
        </p:spPr>
      </p:pic>
      <p:sp>
        <p:nvSpPr>
          <p:cNvPr id="11" name="TextBox 10">
            <a:extLst>
              <a:ext uri="{FF2B5EF4-FFF2-40B4-BE49-F238E27FC236}">
                <a16:creationId xmlns:a16="http://schemas.microsoft.com/office/drawing/2014/main" id="{37386294-D6DE-4424-896D-EB69EEA1B1C6}"/>
              </a:ext>
            </a:extLst>
          </p:cNvPr>
          <p:cNvSpPr txBox="1"/>
          <p:nvPr/>
        </p:nvSpPr>
        <p:spPr>
          <a:xfrm>
            <a:off x="6283387" y="2180492"/>
            <a:ext cx="245319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PAYROLL</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3919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55610-E199-4186-8749-8D5261DD345D}"/>
              </a:ext>
            </a:extLst>
          </p:cNvPr>
          <p:cNvSpPr>
            <a:spLocks noGrp="1"/>
          </p:cNvSpPr>
          <p:nvPr>
            <p:ph type="title"/>
          </p:nvPr>
        </p:nvSpPr>
        <p:spPr>
          <a:xfrm>
            <a:off x="450165" y="365125"/>
            <a:ext cx="11282289" cy="633681"/>
          </a:xfrm>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ER DIAGRAM</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DB7ACC2-442A-4BF4-9D33-50E8A1235DAC}"/>
              </a:ext>
            </a:extLst>
          </p:cNvPr>
          <p:cNvSpPr>
            <a:spLocks noGrp="1"/>
          </p:cNvSpPr>
          <p:nvPr>
            <p:ph type="body" idx="1"/>
          </p:nvPr>
        </p:nvSpPr>
        <p:spPr>
          <a:xfrm>
            <a:off x="450165" y="998806"/>
            <a:ext cx="10903635" cy="5178157"/>
          </a:xfrm>
        </p:spPr>
        <p:txBody>
          <a:bodyPr/>
          <a:lstStyle/>
          <a:p>
            <a:pPr marL="114300" indent="0">
              <a:buNone/>
            </a:pPr>
            <a:r>
              <a:rPr lang="en-US" dirty="0"/>
              <a:t>.</a:t>
            </a:r>
            <a:endParaRPr lang="en-IN" dirty="0"/>
          </a:p>
        </p:txBody>
      </p:sp>
      <p:pic>
        <p:nvPicPr>
          <p:cNvPr id="5" name="Picture 4">
            <a:extLst>
              <a:ext uri="{FF2B5EF4-FFF2-40B4-BE49-F238E27FC236}">
                <a16:creationId xmlns:a16="http://schemas.microsoft.com/office/drawing/2014/main" id="{34F52EB6-F80A-436A-9D8A-29504BD75DCB}"/>
              </a:ext>
            </a:extLst>
          </p:cNvPr>
          <p:cNvPicPr>
            <a:picLocks noChangeAspect="1"/>
          </p:cNvPicPr>
          <p:nvPr/>
        </p:nvPicPr>
        <p:blipFill>
          <a:blip r:embed="rId2"/>
          <a:stretch>
            <a:fillRect/>
          </a:stretch>
        </p:blipFill>
        <p:spPr>
          <a:xfrm>
            <a:off x="1083212" y="998806"/>
            <a:ext cx="8060788" cy="5040783"/>
          </a:xfrm>
          <a:prstGeom prst="rect">
            <a:avLst/>
          </a:prstGeom>
        </p:spPr>
      </p:pic>
    </p:spTree>
    <p:extLst>
      <p:ext uri="{BB962C8B-B14F-4D97-AF65-F5344CB8AC3E}">
        <p14:creationId xmlns:p14="http://schemas.microsoft.com/office/powerpoint/2010/main" val="903589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CD4F9-762C-4A63-A5FB-6CC81A10B05A}"/>
              </a:ext>
            </a:extLst>
          </p:cNvPr>
          <p:cNvSpPr>
            <a:spLocks noGrp="1"/>
          </p:cNvSpPr>
          <p:nvPr>
            <p:ph type="title"/>
          </p:nvPr>
        </p:nvSpPr>
        <p:spPr>
          <a:xfrm>
            <a:off x="379828" y="365126"/>
            <a:ext cx="11352627" cy="675884"/>
          </a:xfrm>
        </p:spPr>
        <p:txBody>
          <a:bodyPr>
            <a:normAutofit fontScale="90000"/>
          </a:bodyPr>
          <a:lstStyle/>
          <a:p>
            <a:r>
              <a:rPr lang="en-IN" b="1" i="0" u="none" strike="noStrike" dirty="0">
                <a:solidFill>
                  <a:srgbClr val="FF0000"/>
                </a:solidFill>
                <a:effectLst/>
                <a:latin typeface="Times New Roman" panose="02020603050405020304" pitchFamily="18" charset="0"/>
                <a:cs typeface="Times New Roman" panose="02020603050405020304" pitchFamily="18" charset="0"/>
              </a:rPr>
              <a:t>Analysis Questions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3942717C-364C-4C13-9515-375CAA69B54E}"/>
              </a:ext>
            </a:extLst>
          </p:cNvPr>
          <p:cNvSpPr>
            <a:spLocks noGrp="1"/>
          </p:cNvSpPr>
          <p:nvPr>
            <p:ph type="body" idx="1"/>
          </p:nvPr>
        </p:nvSpPr>
        <p:spPr>
          <a:xfrm>
            <a:off x="459545" y="1041010"/>
            <a:ext cx="11352627" cy="5135953"/>
          </a:xfrm>
        </p:spPr>
        <p:txBody>
          <a:bodyPr/>
          <a:lstStyle/>
          <a:p>
            <a:pPr marL="114300" indent="0" rtl="0">
              <a:spcBef>
                <a:spcPts val="1400"/>
              </a:spcBef>
              <a:spcAft>
                <a:spcPts val="400"/>
              </a:spcAft>
              <a:buNone/>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1. EMPLOYEE INSIGHTS</a:t>
            </a:r>
            <a:endParaRPr lang="en-US" b="1" dirty="0">
              <a:effectLst/>
              <a:latin typeface="Times New Roman" panose="02020603050405020304" pitchFamily="18" charset="0"/>
              <a:cs typeface="Times New Roman" panose="02020603050405020304" pitchFamily="18" charset="0"/>
            </a:endParaRPr>
          </a:p>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How many unique employees are currently in the system?</a:t>
            </a:r>
            <a:br>
              <a:rPr lang="en-US" sz="1800" b="0" i="0" u="none" strike="noStrike" dirty="0">
                <a:solidFill>
                  <a:srgbClr val="000000"/>
                </a:solidFill>
                <a:effectLst/>
                <a:latin typeface="Arial" panose="020B0604020202020204" pitchFamily="34" charset="0"/>
              </a:rPr>
            </a:br>
            <a:endParaRPr lang="en-IN" dirty="0"/>
          </a:p>
        </p:txBody>
      </p:sp>
      <p:pic>
        <p:nvPicPr>
          <p:cNvPr id="5" name="Picture 4">
            <a:extLst>
              <a:ext uri="{FF2B5EF4-FFF2-40B4-BE49-F238E27FC236}">
                <a16:creationId xmlns:a16="http://schemas.microsoft.com/office/drawing/2014/main" id="{C4E869CC-89DB-4938-8801-C3735A99CB7F}"/>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000028" y="2236181"/>
            <a:ext cx="6246361" cy="686413"/>
          </a:xfrm>
          <a:prstGeom prst="rect">
            <a:avLst/>
          </a:prstGeom>
        </p:spPr>
      </p:pic>
      <p:pic>
        <p:nvPicPr>
          <p:cNvPr id="7" name="Picture 6">
            <a:extLst>
              <a:ext uri="{FF2B5EF4-FFF2-40B4-BE49-F238E27FC236}">
                <a16:creationId xmlns:a16="http://schemas.microsoft.com/office/drawing/2014/main" id="{920B79CC-41F2-4E9D-B55D-63C7FD0F14A0}"/>
              </a:ext>
            </a:extLst>
          </p:cNvPr>
          <p:cNvPicPr>
            <a:picLocks noChangeAspect="1"/>
          </p:cNvPicPr>
          <p:nvPr/>
        </p:nvPicPr>
        <p:blipFill>
          <a:blip r:embed="rId4"/>
          <a:stretch>
            <a:fillRect/>
          </a:stretch>
        </p:blipFill>
        <p:spPr>
          <a:xfrm>
            <a:off x="8567225" y="2236181"/>
            <a:ext cx="2624747" cy="851739"/>
          </a:xfrm>
          <a:prstGeom prst="rect">
            <a:avLst/>
          </a:prstGeom>
        </p:spPr>
      </p:pic>
      <p:sp>
        <p:nvSpPr>
          <p:cNvPr id="9" name="TextBox 8">
            <a:extLst>
              <a:ext uri="{FF2B5EF4-FFF2-40B4-BE49-F238E27FC236}">
                <a16:creationId xmlns:a16="http://schemas.microsoft.com/office/drawing/2014/main" id="{4E56B5C5-5DC7-48BE-BA7A-D5189885911C}"/>
              </a:ext>
            </a:extLst>
          </p:cNvPr>
          <p:cNvSpPr txBox="1"/>
          <p:nvPr/>
        </p:nvSpPr>
        <p:spPr>
          <a:xfrm>
            <a:off x="576775" y="3407960"/>
            <a:ext cx="6669614" cy="707886"/>
          </a:xfrm>
          <a:prstGeom prst="rect">
            <a:avLst/>
          </a:prstGeom>
          <a:noFill/>
        </p:spPr>
        <p:txBody>
          <a:bodyPr wrap="square">
            <a:spAutoFit/>
          </a:bodyPr>
          <a:lstStyle/>
          <a:p>
            <a:pPr marL="342900" indent="-342900">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Which departments have the highest number of employees?</a:t>
            </a:r>
            <a:br>
              <a:rPr lang="en-US" sz="2000" b="0" i="0" u="none" strike="noStrike" dirty="0">
                <a:solidFill>
                  <a:srgbClr val="000000"/>
                </a:solidFill>
                <a:effectLst/>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E102352-F9AA-4196-AD22-89DE06E94EA3}"/>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5300"/>
                    </a14:imgEffect>
                  </a14:imgLayer>
                </a14:imgProps>
              </a:ext>
            </a:extLst>
          </a:blip>
          <a:stretch>
            <a:fillRect/>
          </a:stretch>
        </p:blipFill>
        <p:spPr>
          <a:xfrm>
            <a:off x="1000028" y="3896751"/>
            <a:ext cx="5193488" cy="1920239"/>
          </a:xfrm>
          <a:prstGeom prst="rect">
            <a:avLst/>
          </a:prstGeom>
        </p:spPr>
      </p:pic>
      <p:pic>
        <p:nvPicPr>
          <p:cNvPr id="13" name="Picture 12">
            <a:extLst>
              <a:ext uri="{FF2B5EF4-FFF2-40B4-BE49-F238E27FC236}">
                <a16:creationId xmlns:a16="http://schemas.microsoft.com/office/drawing/2014/main" id="{766A6431-C1ED-4E4D-B8B6-34D9A0C2B9BA}"/>
              </a:ext>
            </a:extLst>
          </p:cNvPr>
          <p:cNvPicPr>
            <a:picLocks noChangeAspect="1"/>
          </p:cNvPicPr>
          <p:nvPr/>
        </p:nvPicPr>
        <p:blipFill>
          <a:blip r:embed="rId7"/>
          <a:stretch>
            <a:fillRect/>
          </a:stretch>
        </p:blipFill>
        <p:spPr>
          <a:xfrm>
            <a:off x="8567225" y="3936231"/>
            <a:ext cx="2624747" cy="2035778"/>
          </a:xfrm>
          <a:prstGeom prst="rect">
            <a:avLst/>
          </a:prstGeom>
        </p:spPr>
      </p:pic>
    </p:spTree>
    <p:extLst>
      <p:ext uri="{BB962C8B-B14F-4D97-AF65-F5344CB8AC3E}">
        <p14:creationId xmlns:p14="http://schemas.microsoft.com/office/powerpoint/2010/main" val="1419368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D6500-3F2D-45E0-8BBB-A71CF635A05C}"/>
              </a:ext>
            </a:extLst>
          </p:cNvPr>
          <p:cNvSpPr>
            <a:spLocks noGrp="1"/>
          </p:cNvSpPr>
          <p:nvPr>
            <p:ph type="title"/>
          </p:nvPr>
        </p:nvSpPr>
        <p:spPr>
          <a:xfrm>
            <a:off x="407963" y="365125"/>
            <a:ext cx="11338560" cy="718087"/>
          </a:xfrm>
        </p:spPr>
        <p:txBody>
          <a:bodyPr>
            <a:normAutofit fontScale="90000"/>
          </a:bodyPr>
          <a:lstStyle/>
          <a:p>
            <a:pPr rtl="0">
              <a:spcBef>
                <a:spcPts val="1200"/>
              </a:spcBef>
              <a:spcAft>
                <a:spcPts val="1200"/>
              </a:spcAft>
            </a:pPr>
            <a:r>
              <a:rPr lang="en-IN" b="1" i="0" u="none" strike="noStrike" dirty="0">
                <a:solidFill>
                  <a:srgbClr val="FF0000"/>
                </a:solidFill>
                <a:effectLst/>
                <a:latin typeface="Times New Roman" panose="02020603050405020304" pitchFamily="18" charset="0"/>
                <a:cs typeface="Times New Roman" panose="02020603050405020304" pitchFamily="18" charset="0"/>
              </a:rPr>
              <a:t>Analysis Questions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D1F87ED-98E4-4B1A-85F8-83195E5E5509}"/>
              </a:ext>
            </a:extLst>
          </p:cNvPr>
          <p:cNvSpPr>
            <a:spLocks noGrp="1"/>
          </p:cNvSpPr>
          <p:nvPr>
            <p:ph type="body" idx="1"/>
          </p:nvPr>
        </p:nvSpPr>
        <p:spPr>
          <a:xfrm>
            <a:off x="407963" y="1083212"/>
            <a:ext cx="11338560" cy="5093751"/>
          </a:xfrm>
        </p:spPr>
        <p:txBody>
          <a:bodyPr>
            <a:normAutofit/>
          </a:bodyPr>
          <a:lstStyle/>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What is the average salary per department?</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1D03BF7-C96D-4C3D-90A6-C494A6895057}"/>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930134" y="1568399"/>
            <a:ext cx="4747011" cy="1498358"/>
          </a:xfrm>
          <a:prstGeom prst="rect">
            <a:avLst/>
          </a:prstGeom>
        </p:spPr>
      </p:pic>
      <p:pic>
        <p:nvPicPr>
          <p:cNvPr id="7" name="Picture 6">
            <a:extLst>
              <a:ext uri="{FF2B5EF4-FFF2-40B4-BE49-F238E27FC236}">
                <a16:creationId xmlns:a16="http://schemas.microsoft.com/office/drawing/2014/main" id="{DEC81362-675F-47A5-B1AF-C64CA788E6D5}"/>
              </a:ext>
            </a:extLst>
          </p:cNvPr>
          <p:cNvPicPr>
            <a:picLocks noChangeAspect="1"/>
          </p:cNvPicPr>
          <p:nvPr/>
        </p:nvPicPr>
        <p:blipFill>
          <a:blip r:embed="rId4"/>
          <a:stretch>
            <a:fillRect/>
          </a:stretch>
        </p:blipFill>
        <p:spPr>
          <a:xfrm>
            <a:off x="8764172" y="1217049"/>
            <a:ext cx="2497694" cy="1849708"/>
          </a:xfrm>
          <a:prstGeom prst="rect">
            <a:avLst/>
          </a:prstGeom>
        </p:spPr>
      </p:pic>
      <p:sp>
        <p:nvSpPr>
          <p:cNvPr id="9" name="TextBox 8">
            <a:extLst>
              <a:ext uri="{FF2B5EF4-FFF2-40B4-BE49-F238E27FC236}">
                <a16:creationId xmlns:a16="http://schemas.microsoft.com/office/drawing/2014/main" id="{728FD0FB-7418-4564-A6AB-0B5EADF74805}"/>
              </a:ext>
            </a:extLst>
          </p:cNvPr>
          <p:cNvSpPr txBox="1"/>
          <p:nvPr/>
        </p:nvSpPr>
        <p:spPr>
          <a:xfrm>
            <a:off x="618978" y="3167390"/>
            <a:ext cx="6409500" cy="707886"/>
          </a:xfrm>
          <a:prstGeom prst="rect">
            <a:avLst/>
          </a:prstGeom>
          <a:noFill/>
        </p:spPr>
        <p:txBody>
          <a:bodyPr wrap="square">
            <a:spAutoFit/>
          </a:bodyPr>
          <a:lstStyle/>
          <a:p>
            <a:pPr marL="285750" indent="-285750">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Who are the top 5 highest-paid employees?</a:t>
            </a:r>
            <a:br>
              <a:rPr lang="en-US" sz="2000" b="0" i="0" u="none" strike="noStrike" dirty="0">
                <a:solidFill>
                  <a:srgbClr val="000000"/>
                </a:solidFill>
                <a:effectLst/>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8AA30E5-000F-483A-BFD0-197D70174500}"/>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930133" y="3720933"/>
            <a:ext cx="4747011" cy="2186123"/>
          </a:xfrm>
          <a:prstGeom prst="rect">
            <a:avLst/>
          </a:prstGeom>
        </p:spPr>
      </p:pic>
      <p:pic>
        <p:nvPicPr>
          <p:cNvPr id="13" name="Picture 12">
            <a:extLst>
              <a:ext uri="{FF2B5EF4-FFF2-40B4-BE49-F238E27FC236}">
                <a16:creationId xmlns:a16="http://schemas.microsoft.com/office/drawing/2014/main" id="{54D82143-C4A1-42D1-96F7-8CD878FEB852}"/>
              </a:ext>
            </a:extLst>
          </p:cNvPr>
          <p:cNvPicPr>
            <a:picLocks noChangeAspect="1"/>
          </p:cNvPicPr>
          <p:nvPr/>
        </p:nvPicPr>
        <p:blipFill>
          <a:blip r:embed="rId7"/>
          <a:stretch>
            <a:fillRect/>
          </a:stretch>
        </p:blipFill>
        <p:spPr>
          <a:xfrm>
            <a:off x="8764172" y="3784844"/>
            <a:ext cx="2808850" cy="1817421"/>
          </a:xfrm>
          <a:prstGeom prst="rect">
            <a:avLst/>
          </a:prstGeom>
        </p:spPr>
      </p:pic>
    </p:spTree>
    <p:extLst>
      <p:ext uri="{BB962C8B-B14F-4D97-AF65-F5344CB8AC3E}">
        <p14:creationId xmlns:p14="http://schemas.microsoft.com/office/powerpoint/2010/main" val="4254065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7EB30-55BB-499F-B089-4F07AD9383DB}"/>
              </a:ext>
            </a:extLst>
          </p:cNvPr>
          <p:cNvSpPr>
            <a:spLocks noGrp="1"/>
          </p:cNvSpPr>
          <p:nvPr>
            <p:ph type="title"/>
          </p:nvPr>
        </p:nvSpPr>
        <p:spPr>
          <a:xfrm>
            <a:off x="436098" y="365125"/>
            <a:ext cx="11380764" cy="549275"/>
          </a:xfrm>
        </p:spPr>
        <p:txBody>
          <a:bodyPr>
            <a:normAutofit fontScale="90000"/>
          </a:bodyPr>
          <a:lstStyle/>
          <a:p>
            <a:r>
              <a:rPr lang="en-IN" b="1" i="0" u="none" strike="noStrike" dirty="0">
                <a:solidFill>
                  <a:srgbClr val="FF0000"/>
                </a:solidFill>
                <a:effectLst/>
                <a:latin typeface="Times New Roman" panose="02020603050405020304" pitchFamily="18" charset="0"/>
                <a:cs typeface="Times New Roman" panose="02020603050405020304" pitchFamily="18" charset="0"/>
              </a:rPr>
              <a:t>Analysis Questions</a:t>
            </a:r>
            <a:endParaRPr lang="en-IN" dirty="0"/>
          </a:p>
        </p:txBody>
      </p:sp>
      <p:sp>
        <p:nvSpPr>
          <p:cNvPr id="3" name="Text Placeholder 2">
            <a:extLst>
              <a:ext uri="{FF2B5EF4-FFF2-40B4-BE49-F238E27FC236}">
                <a16:creationId xmlns:a16="http://schemas.microsoft.com/office/drawing/2014/main" id="{7579C8F2-427B-4FCB-A7DD-9B0CA7A37636}"/>
              </a:ext>
            </a:extLst>
          </p:cNvPr>
          <p:cNvSpPr>
            <a:spLocks noGrp="1"/>
          </p:cNvSpPr>
          <p:nvPr>
            <p:ph type="body" idx="1"/>
          </p:nvPr>
        </p:nvSpPr>
        <p:spPr>
          <a:xfrm>
            <a:off x="436098" y="1041010"/>
            <a:ext cx="11380764" cy="5135954"/>
          </a:xfrm>
        </p:spPr>
        <p:txBody>
          <a:bodyPr>
            <a:normAutofit/>
          </a:bodyPr>
          <a:lstStyle/>
          <a:p>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p>
            <a:endParaRPr lang="en-US" sz="2000" dirty="0">
              <a:solidFill>
                <a:srgbClr val="000000"/>
              </a:solidFill>
              <a:latin typeface="Times New Roman" panose="02020603050405020304" pitchFamily="18" charset="0"/>
              <a:cs typeface="Times New Roman" panose="02020603050405020304" pitchFamily="18" charset="0"/>
            </a:endParaRPr>
          </a:p>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What is the total salary expenditure across the company?</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C166C0D-E70B-483D-A2CB-7ACE7ACBBB5B}"/>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972116" y="2614399"/>
            <a:ext cx="6463094" cy="1629201"/>
          </a:xfrm>
          <a:prstGeom prst="rect">
            <a:avLst/>
          </a:prstGeom>
        </p:spPr>
      </p:pic>
      <p:pic>
        <p:nvPicPr>
          <p:cNvPr id="7" name="Picture 6">
            <a:extLst>
              <a:ext uri="{FF2B5EF4-FFF2-40B4-BE49-F238E27FC236}">
                <a16:creationId xmlns:a16="http://schemas.microsoft.com/office/drawing/2014/main" id="{DDB57D06-8388-43F6-8904-F0F9A90B17A6}"/>
              </a:ext>
            </a:extLst>
          </p:cNvPr>
          <p:cNvPicPr>
            <a:picLocks noChangeAspect="1"/>
          </p:cNvPicPr>
          <p:nvPr/>
        </p:nvPicPr>
        <p:blipFill>
          <a:blip r:embed="rId4"/>
          <a:stretch>
            <a:fillRect/>
          </a:stretch>
        </p:blipFill>
        <p:spPr>
          <a:xfrm>
            <a:off x="8047752" y="2570004"/>
            <a:ext cx="3172132" cy="1650801"/>
          </a:xfrm>
          <a:prstGeom prst="rect">
            <a:avLst/>
          </a:prstGeom>
        </p:spPr>
      </p:pic>
    </p:spTree>
    <p:extLst>
      <p:ext uri="{BB962C8B-B14F-4D97-AF65-F5344CB8AC3E}">
        <p14:creationId xmlns:p14="http://schemas.microsoft.com/office/powerpoint/2010/main" val="1494066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79AF-D0E3-4B72-BD75-24EB4CA082D9}"/>
              </a:ext>
            </a:extLst>
          </p:cNvPr>
          <p:cNvSpPr>
            <a:spLocks noGrp="1"/>
          </p:cNvSpPr>
          <p:nvPr>
            <p:ph type="title"/>
          </p:nvPr>
        </p:nvSpPr>
        <p:spPr>
          <a:xfrm>
            <a:off x="461889" y="286824"/>
            <a:ext cx="11268221" cy="788426"/>
          </a:xfrm>
        </p:spPr>
        <p:txBody>
          <a:bodyPr/>
          <a:lstStyle/>
          <a:p>
            <a:r>
              <a:rPr lang="en-IN" b="1" i="0" u="none" strike="noStrike" dirty="0">
                <a:solidFill>
                  <a:srgbClr val="FF0000"/>
                </a:solidFill>
                <a:effectLst/>
                <a:latin typeface="Times New Roman" panose="02020603050405020304" pitchFamily="18" charset="0"/>
                <a:cs typeface="Times New Roman" panose="02020603050405020304" pitchFamily="18" charset="0"/>
              </a:rPr>
              <a:t>Analysis Questions</a:t>
            </a:r>
            <a:endParaRPr lang="en-IN" dirty="0"/>
          </a:p>
        </p:txBody>
      </p:sp>
      <p:sp>
        <p:nvSpPr>
          <p:cNvPr id="3" name="Text Placeholder 2">
            <a:extLst>
              <a:ext uri="{FF2B5EF4-FFF2-40B4-BE49-F238E27FC236}">
                <a16:creationId xmlns:a16="http://schemas.microsoft.com/office/drawing/2014/main" id="{4AF2F0D1-269F-4916-A1D7-1D94AC22A17F}"/>
              </a:ext>
            </a:extLst>
          </p:cNvPr>
          <p:cNvSpPr>
            <a:spLocks noGrp="1"/>
          </p:cNvSpPr>
          <p:nvPr>
            <p:ph type="body" idx="1"/>
          </p:nvPr>
        </p:nvSpPr>
        <p:spPr>
          <a:xfrm>
            <a:off x="461889" y="1075250"/>
            <a:ext cx="11268221" cy="5101713"/>
          </a:xfrm>
        </p:spPr>
        <p:txBody>
          <a:bodyPr/>
          <a:lstStyle/>
          <a:p>
            <a:pPr marL="114300" indent="0" rtl="0">
              <a:spcBef>
                <a:spcPts val="1400"/>
              </a:spcBef>
              <a:spcAft>
                <a:spcPts val="400"/>
              </a:spcAft>
              <a:buNone/>
            </a:pPr>
            <a:r>
              <a:rPr lang="en-US" sz="2400" b="1" i="0" u="none" strike="noStrike" dirty="0">
                <a:solidFill>
                  <a:srgbClr val="000000"/>
                </a:solidFill>
                <a:effectLst/>
                <a:latin typeface="Times New Roman" panose="02020603050405020304" pitchFamily="18" charset="0"/>
                <a:cs typeface="Times New Roman" panose="02020603050405020304" pitchFamily="18" charset="0"/>
              </a:rPr>
              <a:t>2. JOB ROLE AND DEPARTMENT ANALYSIS</a:t>
            </a:r>
            <a:endParaRPr lang="en-US" sz="2400" b="1" dirty="0">
              <a:effectLst/>
              <a:latin typeface="Times New Roman" panose="02020603050405020304" pitchFamily="18" charset="0"/>
              <a:cs typeface="Times New Roman" panose="02020603050405020304" pitchFamily="18" charset="0"/>
            </a:endParaRPr>
          </a:p>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How many different job roles exist in each department?</a:t>
            </a:r>
            <a:br>
              <a:rPr lang="en-US" sz="1800" b="0" i="0" u="none" strike="noStrike" dirty="0">
                <a:solidFill>
                  <a:srgbClr val="000000"/>
                </a:solidFill>
                <a:effectLst/>
                <a:latin typeface="Arial" panose="020B0604020202020204" pitchFamily="34" charset="0"/>
              </a:rPr>
            </a:br>
            <a:endParaRPr lang="en-IN" dirty="0"/>
          </a:p>
        </p:txBody>
      </p:sp>
      <p:pic>
        <p:nvPicPr>
          <p:cNvPr id="5" name="Picture 4">
            <a:extLst>
              <a:ext uri="{FF2B5EF4-FFF2-40B4-BE49-F238E27FC236}">
                <a16:creationId xmlns:a16="http://schemas.microsoft.com/office/drawing/2014/main" id="{371F4119-FE24-42CD-8FD5-58100F9D810E}"/>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942322" y="2208648"/>
            <a:ext cx="4943197" cy="1220352"/>
          </a:xfrm>
          <a:prstGeom prst="rect">
            <a:avLst/>
          </a:prstGeom>
        </p:spPr>
      </p:pic>
      <p:pic>
        <p:nvPicPr>
          <p:cNvPr id="7" name="Picture 6">
            <a:extLst>
              <a:ext uri="{FF2B5EF4-FFF2-40B4-BE49-F238E27FC236}">
                <a16:creationId xmlns:a16="http://schemas.microsoft.com/office/drawing/2014/main" id="{CF2CDB62-8850-4E95-AC23-83349D30DBB0}"/>
              </a:ext>
            </a:extLst>
          </p:cNvPr>
          <p:cNvPicPr>
            <a:picLocks noChangeAspect="1"/>
          </p:cNvPicPr>
          <p:nvPr/>
        </p:nvPicPr>
        <p:blipFill>
          <a:blip r:embed="rId4"/>
          <a:stretch>
            <a:fillRect/>
          </a:stretch>
        </p:blipFill>
        <p:spPr>
          <a:xfrm>
            <a:off x="8305165" y="1546019"/>
            <a:ext cx="2353523" cy="2083446"/>
          </a:xfrm>
          <a:prstGeom prst="rect">
            <a:avLst/>
          </a:prstGeom>
        </p:spPr>
      </p:pic>
      <p:sp>
        <p:nvSpPr>
          <p:cNvPr id="9" name="TextBox 8">
            <a:extLst>
              <a:ext uri="{FF2B5EF4-FFF2-40B4-BE49-F238E27FC236}">
                <a16:creationId xmlns:a16="http://schemas.microsoft.com/office/drawing/2014/main" id="{4422C079-3BEE-40EB-84AC-250C7A3C49EC}"/>
              </a:ext>
            </a:extLst>
          </p:cNvPr>
          <p:cNvSpPr txBox="1"/>
          <p:nvPr/>
        </p:nvSpPr>
        <p:spPr>
          <a:xfrm>
            <a:off x="461889" y="3626106"/>
            <a:ext cx="6578777" cy="707886"/>
          </a:xfrm>
          <a:prstGeom prst="rect">
            <a:avLst/>
          </a:prstGeom>
          <a:noFill/>
        </p:spPr>
        <p:txBody>
          <a:bodyPr wrap="square">
            <a:spAutoFit/>
          </a:bodyPr>
          <a:lstStyle/>
          <a:p>
            <a:pPr marL="285750" indent="-285750">
              <a:buFont typeface="Arial" panose="020B0604020202020204" pitchFamily="34" charset="0"/>
              <a:buChar char="•"/>
            </a:pPr>
            <a:r>
              <a:rPr lang="en-US" sz="2000" i="0" u="none" strike="noStrike" dirty="0">
                <a:solidFill>
                  <a:srgbClr val="000000"/>
                </a:solidFill>
                <a:effectLst/>
                <a:latin typeface="Times New Roman" panose="02020603050405020304" pitchFamily="18" charset="0"/>
                <a:cs typeface="Times New Roman" panose="02020603050405020304" pitchFamily="18" charset="0"/>
              </a:rPr>
              <a:t>What is the average salary range per department?</a:t>
            </a:r>
            <a:br>
              <a:rPr lang="en-US" sz="2000" i="0" u="none" strike="noStrike" dirty="0">
                <a:solidFill>
                  <a:srgbClr val="000000"/>
                </a:solidFill>
                <a:effectLst/>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9D2B63C-F67A-4932-97FB-4A5816E9E5E5}"/>
              </a:ext>
            </a:extLst>
          </p:cNvPr>
          <p:cNvPicPr>
            <a:picLocks noChangeAspect="1"/>
          </p:cNvPicPr>
          <p:nvPr/>
        </p:nvPicPr>
        <p:blipFill>
          <a:blip r:embed="rId5"/>
          <a:stretch>
            <a:fillRect/>
          </a:stretch>
        </p:blipFill>
        <p:spPr>
          <a:xfrm>
            <a:off x="8305165" y="3980048"/>
            <a:ext cx="2815808" cy="2083445"/>
          </a:xfrm>
          <a:prstGeom prst="rect">
            <a:avLst/>
          </a:prstGeom>
        </p:spPr>
      </p:pic>
      <p:pic>
        <p:nvPicPr>
          <p:cNvPr id="13" name="Picture 12">
            <a:extLst>
              <a:ext uri="{FF2B5EF4-FFF2-40B4-BE49-F238E27FC236}">
                <a16:creationId xmlns:a16="http://schemas.microsoft.com/office/drawing/2014/main" id="{114AED58-05E5-4CFB-8CE4-A1A1FE0CE376}"/>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4700"/>
                    </a14:imgEffect>
                  </a14:imgLayer>
                </a14:imgProps>
              </a:ext>
            </a:extLst>
          </a:blip>
          <a:stretch>
            <a:fillRect/>
          </a:stretch>
        </p:blipFill>
        <p:spPr>
          <a:xfrm>
            <a:off x="1071027" y="4026580"/>
            <a:ext cx="4814492" cy="1784681"/>
          </a:xfrm>
          <a:prstGeom prst="rect">
            <a:avLst/>
          </a:prstGeom>
        </p:spPr>
      </p:pic>
    </p:spTree>
    <p:extLst>
      <p:ext uri="{BB962C8B-B14F-4D97-AF65-F5344CB8AC3E}">
        <p14:creationId xmlns:p14="http://schemas.microsoft.com/office/powerpoint/2010/main" val="4038345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99022-D32D-410E-AA50-DC084C0E4DBE}"/>
              </a:ext>
            </a:extLst>
          </p:cNvPr>
          <p:cNvSpPr>
            <a:spLocks noGrp="1"/>
          </p:cNvSpPr>
          <p:nvPr>
            <p:ph type="title"/>
          </p:nvPr>
        </p:nvSpPr>
        <p:spPr>
          <a:xfrm>
            <a:off x="520505" y="182245"/>
            <a:ext cx="11141612" cy="718087"/>
          </a:xfrm>
        </p:spPr>
        <p:txBody>
          <a:bodyPr/>
          <a:lstStyle/>
          <a:p>
            <a:r>
              <a:rPr lang="en-IN" b="1" i="0" u="none" strike="noStrike" dirty="0">
                <a:solidFill>
                  <a:srgbClr val="FF0000"/>
                </a:solidFill>
                <a:effectLst/>
                <a:latin typeface="Times New Roman" panose="02020603050405020304" pitchFamily="18" charset="0"/>
                <a:cs typeface="Times New Roman" panose="02020603050405020304" pitchFamily="18" charset="0"/>
              </a:rPr>
              <a:t>Analysis Questions</a:t>
            </a:r>
            <a:endParaRPr lang="en-IN" dirty="0"/>
          </a:p>
        </p:txBody>
      </p:sp>
      <p:sp>
        <p:nvSpPr>
          <p:cNvPr id="3" name="Text Placeholder 2">
            <a:extLst>
              <a:ext uri="{FF2B5EF4-FFF2-40B4-BE49-F238E27FC236}">
                <a16:creationId xmlns:a16="http://schemas.microsoft.com/office/drawing/2014/main" id="{589EE6EE-F0E1-4E50-88AD-48DE71D08A76}"/>
              </a:ext>
            </a:extLst>
          </p:cNvPr>
          <p:cNvSpPr>
            <a:spLocks noGrp="1"/>
          </p:cNvSpPr>
          <p:nvPr>
            <p:ph type="body" idx="1"/>
          </p:nvPr>
        </p:nvSpPr>
        <p:spPr>
          <a:xfrm>
            <a:off x="520505" y="900332"/>
            <a:ext cx="11150990" cy="5276631"/>
          </a:xfrm>
        </p:spPr>
        <p:txBody>
          <a:bodyPr>
            <a:normAutofit/>
          </a:bodyPr>
          <a:lstStyle/>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Which job roles offer the highest salary?</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5C11F02-9A2E-4C0C-A294-98E1C8061890}"/>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983078" y="1347858"/>
            <a:ext cx="5875726" cy="1676696"/>
          </a:xfrm>
          <a:prstGeom prst="rect">
            <a:avLst/>
          </a:prstGeom>
        </p:spPr>
      </p:pic>
      <p:pic>
        <p:nvPicPr>
          <p:cNvPr id="7" name="Picture 6">
            <a:extLst>
              <a:ext uri="{FF2B5EF4-FFF2-40B4-BE49-F238E27FC236}">
                <a16:creationId xmlns:a16="http://schemas.microsoft.com/office/drawing/2014/main" id="{3BEA1836-1952-4804-AF9E-9B06BBD81288}"/>
              </a:ext>
            </a:extLst>
          </p:cNvPr>
          <p:cNvPicPr>
            <a:picLocks noChangeAspect="1"/>
          </p:cNvPicPr>
          <p:nvPr/>
        </p:nvPicPr>
        <p:blipFill>
          <a:blip r:embed="rId4"/>
          <a:stretch>
            <a:fillRect/>
          </a:stretch>
        </p:blipFill>
        <p:spPr>
          <a:xfrm>
            <a:off x="8139081" y="1347858"/>
            <a:ext cx="3532414" cy="758028"/>
          </a:xfrm>
          <a:prstGeom prst="rect">
            <a:avLst/>
          </a:prstGeom>
        </p:spPr>
      </p:pic>
      <p:sp>
        <p:nvSpPr>
          <p:cNvPr id="9" name="TextBox 8">
            <a:extLst>
              <a:ext uri="{FF2B5EF4-FFF2-40B4-BE49-F238E27FC236}">
                <a16:creationId xmlns:a16="http://schemas.microsoft.com/office/drawing/2014/main" id="{C28D1376-1A3C-4A66-B8F8-8A14D2D13AA4}"/>
              </a:ext>
            </a:extLst>
          </p:cNvPr>
          <p:cNvSpPr txBox="1"/>
          <p:nvPr/>
        </p:nvSpPr>
        <p:spPr>
          <a:xfrm>
            <a:off x="633046" y="3429000"/>
            <a:ext cx="6682154" cy="400110"/>
          </a:xfrm>
          <a:prstGeom prst="rect">
            <a:avLst/>
          </a:prstGeom>
          <a:noFill/>
        </p:spPr>
        <p:txBody>
          <a:bodyPr wrap="square">
            <a:spAutoFit/>
          </a:bodyPr>
          <a:lstStyle/>
          <a:p>
            <a:pPr marL="342900" indent="-342900" rtl="0" fontAlgn="base">
              <a:spcBef>
                <a:spcPts val="1200"/>
              </a:spcBef>
              <a:spcAft>
                <a:spcPts val="1200"/>
              </a:spcAft>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Which departments have the highest total salary allocation?</a:t>
            </a:r>
          </a:p>
        </p:txBody>
      </p:sp>
      <p:pic>
        <p:nvPicPr>
          <p:cNvPr id="11" name="Picture 10">
            <a:extLst>
              <a:ext uri="{FF2B5EF4-FFF2-40B4-BE49-F238E27FC236}">
                <a16:creationId xmlns:a16="http://schemas.microsoft.com/office/drawing/2014/main" id="{791400FC-7BD5-4CB1-BE79-CBFB0CB1987B}"/>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1126300" y="3942274"/>
            <a:ext cx="5479756" cy="1610947"/>
          </a:xfrm>
          <a:prstGeom prst="rect">
            <a:avLst/>
          </a:prstGeom>
        </p:spPr>
      </p:pic>
      <p:pic>
        <p:nvPicPr>
          <p:cNvPr id="13" name="Picture 12">
            <a:extLst>
              <a:ext uri="{FF2B5EF4-FFF2-40B4-BE49-F238E27FC236}">
                <a16:creationId xmlns:a16="http://schemas.microsoft.com/office/drawing/2014/main" id="{C232BC68-5E2F-4EE9-8254-BC53F67E675F}"/>
              </a:ext>
            </a:extLst>
          </p:cNvPr>
          <p:cNvPicPr>
            <a:picLocks noChangeAspect="1"/>
          </p:cNvPicPr>
          <p:nvPr/>
        </p:nvPicPr>
        <p:blipFill>
          <a:blip r:embed="rId7"/>
          <a:stretch>
            <a:fillRect/>
          </a:stretch>
        </p:blipFill>
        <p:spPr>
          <a:xfrm>
            <a:off x="8139081" y="3829110"/>
            <a:ext cx="3153900" cy="2128558"/>
          </a:xfrm>
          <a:prstGeom prst="rect">
            <a:avLst/>
          </a:prstGeom>
        </p:spPr>
      </p:pic>
    </p:spTree>
    <p:extLst>
      <p:ext uri="{BB962C8B-B14F-4D97-AF65-F5344CB8AC3E}">
        <p14:creationId xmlns:p14="http://schemas.microsoft.com/office/powerpoint/2010/main" val="401143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2687A-6380-473E-9418-28A327DE7D20}"/>
              </a:ext>
            </a:extLst>
          </p:cNvPr>
          <p:cNvSpPr>
            <a:spLocks noGrp="1"/>
          </p:cNvSpPr>
          <p:nvPr>
            <p:ph type="title"/>
          </p:nvPr>
        </p:nvSpPr>
        <p:spPr>
          <a:xfrm>
            <a:off x="436098" y="365125"/>
            <a:ext cx="11366696" cy="647749"/>
          </a:xfrm>
        </p:spPr>
        <p:txBody>
          <a:bodyPr>
            <a:normAutofit fontScale="90000"/>
          </a:bodyPr>
          <a:lstStyle/>
          <a:p>
            <a:r>
              <a:rPr lang="en-IN" b="1" i="0" u="none" strike="noStrike" dirty="0">
                <a:solidFill>
                  <a:srgbClr val="FF0000"/>
                </a:solidFill>
                <a:effectLst/>
                <a:latin typeface="Times New Roman" panose="02020603050405020304" pitchFamily="18" charset="0"/>
                <a:cs typeface="Times New Roman" panose="02020603050405020304" pitchFamily="18" charset="0"/>
              </a:rPr>
              <a:t>Analysis Questions</a:t>
            </a:r>
            <a:endParaRPr lang="en-IN" dirty="0"/>
          </a:p>
        </p:txBody>
      </p:sp>
      <p:sp>
        <p:nvSpPr>
          <p:cNvPr id="3" name="Text Placeholder 2">
            <a:extLst>
              <a:ext uri="{FF2B5EF4-FFF2-40B4-BE49-F238E27FC236}">
                <a16:creationId xmlns:a16="http://schemas.microsoft.com/office/drawing/2014/main" id="{59B4DC19-7A0D-48DF-A154-DF780307CFC2}"/>
              </a:ext>
            </a:extLst>
          </p:cNvPr>
          <p:cNvSpPr>
            <a:spLocks noGrp="1"/>
          </p:cNvSpPr>
          <p:nvPr>
            <p:ph type="body" idx="1"/>
          </p:nvPr>
        </p:nvSpPr>
        <p:spPr>
          <a:xfrm>
            <a:off x="534572" y="1012874"/>
            <a:ext cx="11221330" cy="5164089"/>
          </a:xfrm>
        </p:spPr>
        <p:txBody>
          <a:bodyPr/>
          <a:lstStyle/>
          <a:p>
            <a:pPr marL="114300" indent="0" rtl="0">
              <a:spcBef>
                <a:spcPts val="1400"/>
              </a:spcBef>
              <a:spcAft>
                <a:spcPts val="400"/>
              </a:spcAft>
              <a:buNone/>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3. QUALIFICATION AND SKILLS ANALYSIS</a:t>
            </a:r>
            <a:endParaRPr lang="en-US" b="1" dirty="0">
              <a:effectLst/>
              <a:latin typeface="Times New Roman" panose="02020603050405020304" pitchFamily="18" charset="0"/>
              <a:cs typeface="Times New Roman" panose="02020603050405020304" pitchFamily="18" charset="0"/>
            </a:endParaRPr>
          </a:p>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How many employees have at least one qualification listed?</a:t>
            </a:r>
            <a:br>
              <a:rPr lang="en-US" sz="2000" b="0" i="0" u="none" strike="noStrike" dirty="0">
                <a:solidFill>
                  <a:srgbClr val="000000"/>
                </a:solidFill>
                <a:effectLst/>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2064F5B-6A9F-4174-8BCD-E6EFFF7F44AC}"/>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043003" y="2023888"/>
            <a:ext cx="5751692" cy="565515"/>
          </a:xfrm>
          <a:prstGeom prst="rect">
            <a:avLst/>
          </a:prstGeom>
        </p:spPr>
      </p:pic>
      <p:pic>
        <p:nvPicPr>
          <p:cNvPr id="7" name="Picture 6">
            <a:extLst>
              <a:ext uri="{FF2B5EF4-FFF2-40B4-BE49-F238E27FC236}">
                <a16:creationId xmlns:a16="http://schemas.microsoft.com/office/drawing/2014/main" id="{7447479A-B25A-4A39-9F23-1E2DD16FA679}"/>
              </a:ext>
            </a:extLst>
          </p:cNvPr>
          <p:cNvPicPr>
            <a:picLocks noChangeAspect="1"/>
          </p:cNvPicPr>
          <p:nvPr/>
        </p:nvPicPr>
        <p:blipFill>
          <a:blip r:embed="rId4"/>
          <a:stretch>
            <a:fillRect/>
          </a:stretch>
        </p:blipFill>
        <p:spPr>
          <a:xfrm>
            <a:off x="8482818" y="2023888"/>
            <a:ext cx="3202082" cy="647748"/>
          </a:xfrm>
          <a:prstGeom prst="rect">
            <a:avLst/>
          </a:prstGeom>
        </p:spPr>
      </p:pic>
      <p:sp>
        <p:nvSpPr>
          <p:cNvPr id="9" name="TextBox 8">
            <a:extLst>
              <a:ext uri="{FF2B5EF4-FFF2-40B4-BE49-F238E27FC236}">
                <a16:creationId xmlns:a16="http://schemas.microsoft.com/office/drawing/2014/main" id="{F3915201-3E77-4B80-BB04-98ADBF9F0FE6}"/>
              </a:ext>
            </a:extLst>
          </p:cNvPr>
          <p:cNvSpPr txBox="1"/>
          <p:nvPr/>
        </p:nvSpPr>
        <p:spPr>
          <a:xfrm>
            <a:off x="675249" y="2810088"/>
            <a:ext cx="6292772" cy="707886"/>
          </a:xfrm>
          <a:prstGeom prst="rect">
            <a:avLst/>
          </a:prstGeom>
          <a:noFill/>
        </p:spPr>
        <p:txBody>
          <a:bodyPr wrap="square">
            <a:spAutoFit/>
          </a:bodyPr>
          <a:lstStyle/>
          <a:p>
            <a:pPr marL="285750" indent="-285750">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Which positions require the most qualifications?</a:t>
            </a:r>
            <a:br>
              <a:rPr lang="en-US" sz="2000" b="0" i="0" u="none" strike="noStrike" dirty="0">
                <a:solidFill>
                  <a:srgbClr val="000000"/>
                </a:solidFill>
                <a:effectLst/>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04D74AB-0A0F-4579-BF34-550FF28647DA}"/>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1043003" y="3136947"/>
            <a:ext cx="5564321" cy="1249670"/>
          </a:xfrm>
          <a:prstGeom prst="rect">
            <a:avLst/>
          </a:prstGeom>
        </p:spPr>
      </p:pic>
      <p:pic>
        <p:nvPicPr>
          <p:cNvPr id="13" name="Picture 12">
            <a:extLst>
              <a:ext uri="{FF2B5EF4-FFF2-40B4-BE49-F238E27FC236}">
                <a16:creationId xmlns:a16="http://schemas.microsoft.com/office/drawing/2014/main" id="{34B76B63-5869-4501-93F8-0A4596538300}"/>
              </a:ext>
            </a:extLst>
          </p:cNvPr>
          <p:cNvPicPr>
            <a:picLocks noChangeAspect="1"/>
          </p:cNvPicPr>
          <p:nvPr/>
        </p:nvPicPr>
        <p:blipFill>
          <a:blip r:embed="rId7"/>
          <a:stretch>
            <a:fillRect/>
          </a:stretch>
        </p:blipFill>
        <p:spPr>
          <a:xfrm>
            <a:off x="8335298" y="2909613"/>
            <a:ext cx="2707840" cy="1708518"/>
          </a:xfrm>
          <a:prstGeom prst="rect">
            <a:avLst/>
          </a:prstGeom>
        </p:spPr>
      </p:pic>
    </p:spTree>
    <p:extLst>
      <p:ext uri="{BB962C8B-B14F-4D97-AF65-F5344CB8AC3E}">
        <p14:creationId xmlns:p14="http://schemas.microsoft.com/office/powerpoint/2010/main" val="1916344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539D7-075D-4F73-954C-5C712C12A3A0}"/>
              </a:ext>
            </a:extLst>
          </p:cNvPr>
          <p:cNvSpPr>
            <a:spLocks noGrp="1"/>
          </p:cNvSpPr>
          <p:nvPr>
            <p:ph type="title"/>
          </p:nvPr>
        </p:nvSpPr>
        <p:spPr>
          <a:xfrm>
            <a:off x="478301" y="196949"/>
            <a:ext cx="11268221" cy="815925"/>
          </a:xfrm>
        </p:spPr>
        <p:txBody>
          <a:bodyPr/>
          <a:lstStyle/>
          <a:p>
            <a:r>
              <a:rPr lang="en-IN" b="1" i="0" u="none" strike="noStrike" dirty="0">
                <a:solidFill>
                  <a:srgbClr val="FF0000"/>
                </a:solidFill>
                <a:effectLst/>
                <a:latin typeface="Times New Roman" panose="02020603050405020304" pitchFamily="18" charset="0"/>
                <a:cs typeface="Times New Roman" panose="02020603050405020304" pitchFamily="18" charset="0"/>
              </a:rPr>
              <a:t>Analysis Questions</a:t>
            </a:r>
            <a:endParaRPr lang="en-IN" dirty="0"/>
          </a:p>
        </p:txBody>
      </p:sp>
      <p:sp>
        <p:nvSpPr>
          <p:cNvPr id="3" name="Text Placeholder 2">
            <a:extLst>
              <a:ext uri="{FF2B5EF4-FFF2-40B4-BE49-F238E27FC236}">
                <a16:creationId xmlns:a16="http://schemas.microsoft.com/office/drawing/2014/main" id="{7319311F-19F9-4860-9BEF-8FEEB1F70C96}"/>
              </a:ext>
            </a:extLst>
          </p:cNvPr>
          <p:cNvSpPr>
            <a:spLocks noGrp="1"/>
          </p:cNvSpPr>
          <p:nvPr>
            <p:ph type="body" idx="1"/>
          </p:nvPr>
        </p:nvSpPr>
        <p:spPr>
          <a:xfrm>
            <a:off x="478301" y="1012874"/>
            <a:ext cx="11235398" cy="5164089"/>
          </a:xfrm>
        </p:spPr>
        <p:txBody>
          <a:bodyPr>
            <a:normAutofit/>
          </a:bodyPr>
          <a:lstStyle/>
          <a:p>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Which employees have the highest number of qualifications?</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AEFABFA-DA0C-4C65-9AF1-9AF1CE0BFB8F}"/>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759655" y="2166305"/>
            <a:ext cx="6666628" cy="1758581"/>
          </a:xfrm>
          <a:prstGeom prst="rect">
            <a:avLst/>
          </a:prstGeom>
        </p:spPr>
      </p:pic>
      <p:pic>
        <p:nvPicPr>
          <p:cNvPr id="7" name="Picture 6">
            <a:extLst>
              <a:ext uri="{FF2B5EF4-FFF2-40B4-BE49-F238E27FC236}">
                <a16:creationId xmlns:a16="http://schemas.microsoft.com/office/drawing/2014/main" id="{E71388A7-EDCB-4EB1-A157-BFAABABF7AAF}"/>
              </a:ext>
            </a:extLst>
          </p:cNvPr>
          <p:cNvPicPr>
            <a:picLocks noChangeAspect="1"/>
          </p:cNvPicPr>
          <p:nvPr/>
        </p:nvPicPr>
        <p:blipFill>
          <a:blip r:embed="rId4"/>
          <a:stretch>
            <a:fillRect/>
          </a:stretch>
        </p:blipFill>
        <p:spPr>
          <a:xfrm>
            <a:off x="8212489" y="2166305"/>
            <a:ext cx="2715004" cy="1638529"/>
          </a:xfrm>
          <a:prstGeom prst="rect">
            <a:avLst/>
          </a:prstGeom>
        </p:spPr>
      </p:pic>
    </p:spTree>
    <p:extLst>
      <p:ext uri="{BB962C8B-B14F-4D97-AF65-F5344CB8AC3E}">
        <p14:creationId xmlns:p14="http://schemas.microsoft.com/office/powerpoint/2010/main" val="885882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C654A-A7E4-41D0-AB14-056A3E6887A9}"/>
              </a:ext>
            </a:extLst>
          </p:cNvPr>
          <p:cNvSpPr>
            <a:spLocks noGrp="1"/>
          </p:cNvSpPr>
          <p:nvPr>
            <p:ph type="title"/>
          </p:nvPr>
        </p:nvSpPr>
        <p:spPr>
          <a:xfrm>
            <a:off x="422031" y="365126"/>
            <a:ext cx="11310424" cy="591478"/>
          </a:xfrm>
        </p:spPr>
        <p:txBody>
          <a:bodyPr>
            <a:normAutofit fontScale="90000"/>
          </a:bodyPr>
          <a:lstStyle/>
          <a:p>
            <a:r>
              <a:rPr lang="en-IN" b="1" i="0" u="none" strike="noStrike" dirty="0">
                <a:solidFill>
                  <a:srgbClr val="FF0000"/>
                </a:solidFill>
                <a:effectLst/>
                <a:latin typeface="Times New Roman" panose="02020603050405020304" pitchFamily="18" charset="0"/>
                <a:cs typeface="Times New Roman" panose="02020603050405020304" pitchFamily="18" charset="0"/>
              </a:rPr>
              <a:t>Analysis Questions</a:t>
            </a:r>
            <a:endParaRPr lang="en-IN" dirty="0"/>
          </a:p>
        </p:txBody>
      </p:sp>
      <p:sp>
        <p:nvSpPr>
          <p:cNvPr id="3" name="Text Placeholder 2">
            <a:extLst>
              <a:ext uri="{FF2B5EF4-FFF2-40B4-BE49-F238E27FC236}">
                <a16:creationId xmlns:a16="http://schemas.microsoft.com/office/drawing/2014/main" id="{C49B7861-EB34-4422-B998-AFA39C014911}"/>
              </a:ext>
            </a:extLst>
          </p:cNvPr>
          <p:cNvSpPr>
            <a:spLocks noGrp="1"/>
          </p:cNvSpPr>
          <p:nvPr>
            <p:ph type="body" idx="1"/>
          </p:nvPr>
        </p:nvSpPr>
        <p:spPr>
          <a:xfrm>
            <a:off x="422031" y="956604"/>
            <a:ext cx="11310424" cy="5220359"/>
          </a:xfrm>
        </p:spPr>
        <p:txBody>
          <a:bodyPr/>
          <a:lstStyle/>
          <a:p>
            <a:pPr marL="114300" indent="0" rtl="0">
              <a:spcBef>
                <a:spcPts val="1400"/>
              </a:spcBef>
              <a:spcAft>
                <a:spcPts val="400"/>
              </a:spcAft>
              <a:buNone/>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4. LEAVE AND ABSENCE PATTERNS</a:t>
            </a:r>
            <a:endParaRPr lang="en-US" b="1" dirty="0">
              <a:effectLst/>
              <a:latin typeface="Times New Roman" panose="02020603050405020304" pitchFamily="18" charset="0"/>
              <a:cs typeface="Times New Roman" panose="02020603050405020304" pitchFamily="18" charset="0"/>
            </a:endParaRPr>
          </a:p>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Which year had the most employees taking leaves?</a:t>
            </a:r>
            <a:br>
              <a:rPr lang="en-US" sz="2000" b="0" i="0" u="none" strike="noStrike" dirty="0">
                <a:solidFill>
                  <a:srgbClr val="000000"/>
                </a:solidFill>
                <a:effectLst/>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2838AAD-16ED-4676-AEF9-01EB046371E6}"/>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847288" y="1973595"/>
            <a:ext cx="6010506" cy="1093162"/>
          </a:xfrm>
          <a:prstGeom prst="rect">
            <a:avLst/>
          </a:prstGeom>
        </p:spPr>
      </p:pic>
      <p:pic>
        <p:nvPicPr>
          <p:cNvPr id="7" name="Picture 6">
            <a:extLst>
              <a:ext uri="{FF2B5EF4-FFF2-40B4-BE49-F238E27FC236}">
                <a16:creationId xmlns:a16="http://schemas.microsoft.com/office/drawing/2014/main" id="{AA2CFE50-39C2-4F67-98F5-E5B126FCE33C}"/>
              </a:ext>
            </a:extLst>
          </p:cNvPr>
          <p:cNvPicPr>
            <a:picLocks noChangeAspect="1"/>
          </p:cNvPicPr>
          <p:nvPr/>
        </p:nvPicPr>
        <p:blipFill>
          <a:blip r:embed="rId4"/>
          <a:stretch>
            <a:fillRect/>
          </a:stretch>
        </p:blipFill>
        <p:spPr>
          <a:xfrm>
            <a:off x="7490452" y="1973595"/>
            <a:ext cx="3693363" cy="839943"/>
          </a:xfrm>
          <a:prstGeom prst="rect">
            <a:avLst/>
          </a:prstGeom>
        </p:spPr>
      </p:pic>
      <p:sp>
        <p:nvSpPr>
          <p:cNvPr id="9" name="TextBox 8">
            <a:extLst>
              <a:ext uri="{FF2B5EF4-FFF2-40B4-BE49-F238E27FC236}">
                <a16:creationId xmlns:a16="http://schemas.microsoft.com/office/drawing/2014/main" id="{3C6749B8-8AE8-4E56-9125-14FDFF9AB40F}"/>
              </a:ext>
            </a:extLst>
          </p:cNvPr>
          <p:cNvSpPr txBox="1"/>
          <p:nvPr/>
        </p:nvSpPr>
        <p:spPr>
          <a:xfrm>
            <a:off x="459545" y="3197452"/>
            <a:ext cx="7193280" cy="1015663"/>
          </a:xfrm>
          <a:prstGeom prst="rect">
            <a:avLst/>
          </a:prstGeom>
          <a:noFill/>
        </p:spPr>
        <p:txBody>
          <a:bodyPr wrap="square">
            <a:spAutoFit/>
          </a:bodyPr>
          <a:lstStyle/>
          <a:p>
            <a:pPr marL="285750" indent="-285750">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What is the average number of leave days taken by its employees per department?</a:t>
            </a:r>
            <a:br>
              <a:rPr lang="en-US" sz="2000" b="0" i="0" u="none" strike="noStrike" dirty="0">
                <a:solidFill>
                  <a:srgbClr val="000000"/>
                </a:solidFill>
                <a:effectLst/>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0F6962EE-8AF5-4706-A209-4E3E04C65CB0}"/>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847287" y="3863501"/>
            <a:ext cx="6256897" cy="1720647"/>
          </a:xfrm>
          <a:prstGeom prst="rect">
            <a:avLst/>
          </a:prstGeom>
        </p:spPr>
      </p:pic>
      <p:pic>
        <p:nvPicPr>
          <p:cNvPr id="13" name="Picture 12">
            <a:extLst>
              <a:ext uri="{FF2B5EF4-FFF2-40B4-BE49-F238E27FC236}">
                <a16:creationId xmlns:a16="http://schemas.microsoft.com/office/drawing/2014/main" id="{0F47E475-F0FF-4D7D-BF43-0584754E6C3C}"/>
              </a:ext>
            </a:extLst>
          </p:cNvPr>
          <p:cNvPicPr>
            <a:picLocks noChangeAspect="1"/>
          </p:cNvPicPr>
          <p:nvPr/>
        </p:nvPicPr>
        <p:blipFill>
          <a:blip r:embed="rId7"/>
          <a:stretch>
            <a:fillRect/>
          </a:stretch>
        </p:blipFill>
        <p:spPr>
          <a:xfrm>
            <a:off x="8040567" y="3685736"/>
            <a:ext cx="2425796" cy="1898412"/>
          </a:xfrm>
          <a:prstGeom prst="rect">
            <a:avLst/>
          </a:prstGeom>
        </p:spPr>
      </p:pic>
    </p:spTree>
    <p:extLst>
      <p:ext uri="{BB962C8B-B14F-4D97-AF65-F5344CB8AC3E}">
        <p14:creationId xmlns:p14="http://schemas.microsoft.com/office/powerpoint/2010/main" val="35302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B871A-82D3-42AC-B7AF-6BFD2D2809F7}"/>
              </a:ext>
            </a:extLst>
          </p:cNvPr>
          <p:cNvSpPr>
            <a:spLocks noGrp="1"/>
          </p:cNvSpPr>
          <p:nvPr>
            <p:ph type="title"/>
          </p:nvPr>
        </p:nvSpPr>
        <p:spPr>
          <a:xfrm>
            <a:off x="436098" y="365126"/>
            <a:ext cx="11268222" cy="675884"/>
          </a:xfrm>
        </p:spPr>
        <p:txBody>
          <a:bodyPr>
            <a:normAutofit fontScale="90000"/>
          </a:bodyPr>
          <a:lstStyle/>
          <a:p>
            <a:r>
              <a:rPr lang="en-IN" b="1" i="0" u="none" strike="noStrike" dirty="0">
                <a:solidFill>
                  <a:srgbClr val="FF0000"/>
                </a:solidFill>
                <a:effectLst/>
                <a:latin typeface="Times New Roman" panose="02020603050405020304" pitchFamily="18" charset="0"/>
                <a:cs typeface="Times New Roman" panose="02020603050405020304" pitchFamily="18" charset="0"/>
              </a:rPr>
              <a:t>Analysis Questions</a:t>
            </a:r>
            <a:endParaRPr lang="en-IN" dirty="0"/>
          </a:p>
        </p:txBody>
      </p:sp>
      <p:sp>
        <p:nvSpPr>
          <p:cNvPr id="3" name="Text Placeholder 2">
            <a:extLst>
              <a:ext uri="{FF2B5EF4-FFF2-40B4-BE49-F238E27FC236}">
                <a16:creationId xmlns:a16="http://schemas.microsoft.com/office/drawing/2014/main" id="{55C39C2D-3278-4199-BE4B-7B9C26703F8E}"/>
              </a:ext>
            </a:extLst>
          </p:cNvPr>
          <p:cNvSpPr>
            <a:spLocks noGrp="1"/>
          </p:cNvSpPr>
          <p:nvPr>
            <p:ph type="body" idx="1"/>
          </p:nvPr>
        </p:nvSpPr>
        <p:spPr>
          <a:xfrm>
            <a:off x="590843" y="1041010"/>
            <a:ext cx="11113477" cy="5135953"/>
          </a:xfrm>
        </p:spPr>
        <p:txBody>
          <a:bodyPr/>
          <a:lstStyle/>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Which employees have taken the most leaves?</a:t>
            </a:r>
            <a:br>
              <a:rPr lang="en-US" sz="1800" b="0" i="0" u="none" strike="noStrike" dirty="0">
                <a:solidFill>
                  <a:srgbClr val="000000"/>
                </a:solidFill>
                <a:effectLst/>
                <a:latin typeface="Arial" panose="020B0604020202020204" pitchFamily="34" charset="0"/>
              </a:rPr>
            </a:br>
            <a:endParaRPr lang="en-IN" dirty="0"/>
          </a:p>
        </p:txBody>
      </p:sp>
      <p:pic>
        <p:nvPicPr>
          <p:cNvPr id="5" name="Picture 4">
            <a:extLst>
              <a:ext uri="{FF2B5EF4-FFF2-40B4-BE49-F238E27FC236}">
                <a16:creationId xmlns:a16="http://schemas.microsoft.com/office/drawing/2014/main" id="{AC01CB11-028E-4D4C-A43D-CFE809D537E6}"/>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135044" y="1708482"/>
            <a:ext cx="5772193" cy="1467533"/>
          </a:xfrm>
          <a:prstGeom prst="rect">
            <a:avLst/>
          </a:prstGeom>
        </p:spPr>
      </p:pic>
      <p:pic>
        <p:nvPicPr>
          <p:cNvPr id="7" name="Picture 6">
            <a:extLst>
              <a:ext uri="{FF2B5EF4-FFF2-40B4-BE49-F238E27FC236}">
                <a16:creationId xmlns:a16="http://schemas.microsoft.com/office/drawing/2014/main" id="{D5A7F512-BCEC-4AB0-B7C0-3925080185D2}"/>
              </a:ext>
            </a:extLst>
          </p:cNvPr>
          <p:cNvPicPr>
            <a:picLocks noChangeAspect="1"/>
          </p:cNvPicPr>
          <p:nvPr/>
        </p:nvPicPr>
        <p:blipFill>
          <a:blip r:embed="rId4"/>
          <a:stretch>
            <a:fillRect/>
          </a:stretch>
        </p:blipFill>
        <p:spPr>
          <a:xfrm>
            <a:off x="8200535" y="1519311"/>
            <a:ext cx="3208113" cy="1656704"/>
          </a:xfrm>
          <a:prstGeom prst="rect">
            <a:avLst/>
          </a:prstGeom>
        </p:spPr>
      </p:pic>
      <p:pic>
        <p:nvPicPr>
          <p:cNvPr id="9" name="Picture 8">
            <a:extLst>
              <a:ext uri="{FF2B5EF4-FFF2-40B4-BE49-F238E27FC236}">
                <a16:creationId xmlns:a16="http://schemas.microsoft.com/office/drawing/2014/main" id="{17224850-0AE7-4CFE-96DF-1F23ED2384A5}"/>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1135044" y="3567567"/>
            <a:ext cx="5249826" cy="438747"/>
          </a:xfrm>
          <a:prstGeom prst="rect">
            <a:avLst/>
          </a:prstGeom>
        </p:spPr>
      </p:pic>
      <p:sp>
        <p:nvSpPr>
          <p:cNvPr id="11" name="TextBox 10">
            <a:extLst>
              <a:ext uri="{FF2B5EF4-FFF2-40B4-BE49-F238E27FC236}">
                <a16:creationId xmlns:a16="http://schemas.microsoft.com/office/drawing/2014/main" id="{4836C118-3F24-4598-B2E3-3DC57CC62504}"/>
              </a:ext>
            </a:extLst>
          </p:cNvPr>
          <p:cNvSpPr txBox="1"/>
          <p:nvPr/>
        </p:nvSpPr>
        <p:spPr>
          <a:xfrm>
            <a:off x="590843" y="3176015"/>
            <a:ext cx="6865034" cy="615553"/>
          </a:xfrm>
          <a:prstGeom prst="rect">
            <a:avLst/>
          </a:prstGeom>
          <a:noFill/>
        </p:spPr>
        <p:txBody>
          <a:bodyPr wrap="square">
            <a:spAutoFit/>
          </a:bodyPr>
          <a:lstStyle/>
          <a:p>
            <a:pPr marL="285750" indent="-285750">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What is the total number of leave days taken company-wide?</a:t>
            </a:r>
            <a:br>
              <a:rPr lang="en-US" sz="1400" b="0" i="0" u="none" strike="noStrike" dirty="0">
                <a:solidFill>
                  <a:srgbClr val="000000"/>
                </a:solidFill>
                <a:effectLst/>
                <a:latin typeface="Arial" panose="020B0604020202020204" pitchFamily="34" charset="0"/>
              </a:rPr>
            </a:br>
            <a:endParaRPr lang="en-IN" dirty="0"/>
          </a:p>
        </p:txBody>
      </p:sp>
      <p:pic>
        <p:nvPicPr>
          <p:cNvPr id="13" name="Picture 12">
            <a:extLst>
              <a:ext uri="{FF2B5EF4-FFF2-40B4-BE49-F238E27FC236}">
                <a16:creationId xmlns:a16="http://schemas.microsoft.com/office/drawing/2014/main" id="{6F2D8C7B-ED9B-4188-B01A-E60897144DB5}"/>
              </a:ext>
            </a:extLst>
          </p:cNvPr>
          <p:cNvPicPr>
            <a:picLocks noChangeAspect="1"/>
          </p:cNvPicPr>
          <p:nvPr/>
        </p:nvPicPr>
        <p:blipFill>
          <a:blip r:embed="rId7"/>
          <a:stretch>
            <a:fillRect/>
          </a:stretch>
        </p:blipFill>
        <p:spPr>
          <a:xfrm>
            <a:off x="8365960" y="3483791"/>
            <a:ext cx="2877261" cy="615553"/>
          </a:xfrm>
          <a:prstGeom prst="rect">
            <a:avLst/>
          </a:prstGeom>
        </p:spPr>
      </p:pic>
      <p:sp>
        <p:nvSpPr>
          <p:cNvPr id="15" name="TextBox 14">
            <a:extLst>
              <a:ext uri="{FF2B5EF4-FFF2-40B4-BE49-F238E27FC236}">
                <a16:creationId xmlns:a16="http://schemas.microsoft.com/office/drawing/2014/main" id="{9910F872-33F3-4819-85D3-BFDC98D5C44A}"/>
              </a:ext>
            </a:extLst>
          </p:cNvPr>
          <p:cNvSpPr txBox="1"/>
          <p:nvPr/>
        </p:nvSpPr>
        <p:spPr>
          <a:xfrm>
            <a:off x="590843" y="4060935"/>
            <a:ext cx="6865034" cy="400110"/>
          </a:xfrm>
          <a:prstGeom prst="rect">
            <a:avLst/>
          </a:prstGeom>
          <a:noFill/>
        </p:spPr>
        <p:txBody>
          <a:bodyPr wrap="square">
            <a:spAutoFit/>
          </a:bodyPr>
          <a:lstStyle/>
          <a:p>
            <a:pPr marL="342900" indent="-342900">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How do leave days correlate with payroll amounts?</a:t>
            </a:r>
            <a:endParaRPr lang="en-IN" sz="20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0958E335-09C8-4E0C-9904-4B9F2E0F7715}"/>
              </a:ext>
            </a:extLst>
          </p:cNvPr>
          <p:cNvPicPr>
            <a:picLocks noChangeAspect="1"/>
          </p:cNvPicPr>
          <p:nvPr/>
        </p:nvPicPr>
        <p:blipFill>
          <a:blip r:embed="rId8">
            <a:extLst>
              <a:ext uri="{BEBA8EAE-BF5A-486C-A8C5-ECC9F3942E4B}">
                <a14:imgProps xmlns:a14="http://schemas.microsoft.com/office/drawing/2010/main">
                  <a14:imgLayer r:embed="rId9">
                    <a14:imgEffect>
                      <a14:colorTemperature colorTemp="4700"/>
                    </a14:imgEffect>
                  </a14:imgLayer>
                </a14:imgProps>
              </a:ext>
            </a:extLst>
          </a:blip>
          <a:stretch>
            <a:fillRect/>
          </a:stretch>
        </p:blipFill>
        <p:spPr>
          <a:xfrm>
            <a:off x="1053805" y="4475011"/>
            <a:ext cx="5473604" cy="1781424"/>
          </a:xfrm>
          <a:prstGeom prst="rect">
            <a:avLst/>
          </a:prstGeom>
        </p:spPr>
      </p:pic>
      <p:pic>
        <p:nvPicPr>
          <p:cNvPr id="19" name="Picture 18">
            <a:extLst>
              <a:ext uri="{FF2B5EF4-FFF2-40B4-BE49-F238E27FC236}">
                <a16:creationId xmlns:a16="http://schemas.microsoft.com/office/drawing/2014/main" id="{449BEFBE-0375-456B-8BE0-8635D245D66E}"/>
              </a:ext>
            </a:extLst>
          </p:cNvPr>
          <p:cNvPicPr>
            <a:picLocks noChangeAspect="1"/>
          </p:cNvPicPr>
          <p:nvPr/>
        </p:nvPicPr>
        <p:blipFill>
          <a:blip r:embed="rId10"/>
          <a:stretch>
            <a:fillRect/>
          </a:stretch>
        </p:blipFill>
        <p:spPr>
          <a:xfrm>
            <a:off x="7918839" y="4346161"/>
            <a:ext cx="3489809" cy="1629002"/>
          </a:xfrm>
          <a:prstGeom prst="rect">
            <a:avLst/>
          </a:prstGeom>
        </p:spPr>
      </p:pic>
    </p:spTree>
    <p:extLst>
      <p:ext uri="{BB962C8B-B14F-4D97-AF65-F5344CB8AC3E}">
        <p14:creationId xmlns:p14="http://schemas.microsoft.com/office/powerpoint/2010/main" val="2792088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09F33-C91C-4127-A062-E20576924046}"/>
              </a:ext>
            </a:extLst>
          </p:cNvPr>
          <p:cNvSpPr>
            <a:spLocks noGrp="1"/>
          </p:cNvSpPr>
          <p:nvPr>
            <p:ph type="title"/>
          </p:nvPr>
        </p:nvSpPr>
        <p:spPr>
          <a:xfrm>
            <a:off x="436098" y="365126"/>
            <a:ext cx="11352628" cy="605546"/>
          </a:xfrm>
        </p:spPr>
        <p:txBody>
          <a:bodyPr>
            <a:normAutofit fontScale="90000"/>
          </a:bodyPr>
          <a:lstStyle/>
          <a:p>
            <a:r>
              <a:rPr lang="en-IN" b="1" i="0" u="none" strike="noStrike" dirty="0">
                <a:solidFill>
                  <a:srgbClr val="FF0000"/>
                </a:solidFill>
                <a:effectLst/>
                <a:latin typeface="Times New Roman" panose="02020603050405020304" pitchFamily="18" charset="0"/>
                <a:cs typeface="Times New Roman" panose="02020603050405020304" pitchFamily="18" charset="0"/>
              </a:rPr>
              <a:t>Analysis Questions</a:t>
            </a:r>
            <a:endParaRPr lang="en-IN" dirty="0"/>
          </a:p>
        </p:txBody>
      </p:sp>
      <p:sp>
        <p:nvSpPr>
          <p:cNvPr id="3" name="Text Placeholder 2">
            <a:extLst>
              <a:ext uri="{FF2B5EF4-FFF2-40B4-BE49-F238E27FC236}">
                <a16:creationId xmlns:a16="http://schemas.microsoft.com/office/drawing/2014/main" id="{C05B16EF-5696-481F-9341-3CE8F53AAE25}"/>
              </a:ext>
            </a:extLst>
          </p:cNvPr>
          <p:cNvSpPr>
            <a:spLocks noGrp="1"/>
          </p:cNvSpPr>
          <p:nvPr>
            <p:ph type="body" idx="1"/>
          </p:nvPr>
        </p:nvSpPr>
        <p:spPr>
          <a:xfrm>
            <a:off x="534572" y="970672"/>
            <a:ext cx="11221330" cy="5036233"/>
          </a:xfrm>
        </p:spPr>
        <p:txBody>
          <a:bodyPr/>
          <a:lstStyle/>
          <a:p>
            <a:pPr marL="114300" indent="0" rtl="0">
              <a:spcBef>
                <a:spcPts val="1400"/>
              </a:spcBef>
              <a:spcAft>
                <a:spcPts val="400"/>
              </a:spcAft>
              <a:buNone/>
            </a:pPr>
            <a:r>
              <a:rPr lang="en-US" sz="2000" b="1" i="0" u="none" strike="noStrike" dirty="0">
                <a:solidFill>
                  <a:srgbClr val="000000"/>
                </a:solidFill>
                <a:effectLst/>
                <a:latin typeface="Times New Roman" panose="02020603050405020304" pitchFamily="18" charset="0"/>
                <a:cs typeface="Times New Roman" panose="02020603050405020304" pitchFamily="18" charset="0"/>
              </a:rPr>
              <a:t>5. PAYROLL AND COMPENSATION ANALYSIS</a:t>
            </a:r>
            <a:endParaRPr lang="en-US" sz="2000" b="1" dirty="0">
              <a:effectLst/>
              <a:latin typeface="Times New Roman" panose="02020603050405020304" pitchFamily="18" charset="0"/>
              <a:cs typeface="Times New Roman" panose="02020603050405020304" pitchFamily="18" charset="0"/>
            </a:endParaRPr>
          </a:p>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What is the total monthly payroll processed?</a:t>
            </a:r>
            <a:br>
              <a:rPr lang="en-US" sz="1800" b="0" i="0" u="none" strike="noStrike" dirty="0">
                <a:solidFill>
                  <a:srgbClr val="000000"/>
                </a:solidFill>
                <a:effectLst/>
                <a:latin typeface="Arial" panose="020B0604020202020204" pitchFamily="34" charset="0"/>
              </a:rPr>
            </a:br>
            <a:endParaRPr lang="en-IN" dirty="0"/>
          </a:p>
        </p:txBody>
      </p:sp>
      <p:pic>
        <p:nvPicPr>
          <p:cNvPr id="5" name="Picture 4">
            <a:extLst>
              <a:ext uri="{FF2B5EF4-FFF2-40B4-BE49-F238E27FC236}">
                <a16:creationId xmlns:a16="http://schemas.microsoft.com/office/drawing/2014/main" id="{AB2F13C1-3BEA-4522-BC9D-7BCA8AAA1FB7}"/>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089747" y="2057452"/>
            <a:ext cx="5156308" cy="502867"/>
          </a:xfrm>
          <a:prstGeom prst="rect">
            <a:avLst/>
          </a:prstGeom>
        </p:spPr>
      </p:pic>
      <p:pic>
        <p:nvPicPr>
          <p:cNvPr id="7" name="Picture 6">
            <a:extLst>
              <a:ext uri="{FF2B5EF4-FFF2-40B4-BE49-F238E27FC236}">
                <a16:creationId xmlns:a16="http://schemas.microsoft.com/office/drawing/2014/main" id="{EEFCFD81-716C-4ECC-A52D-6AEAF3E1299B}"/>
              </a:ext>
            </a:extLst>
          </p:cNvPr>
          <p:cNvPicPr>
            <a:picLocks noChangeAspect="1"/>
          </p:cNvPicPr>
          <p:nvPr/>
        </p:nvPicPr>
        <p:blipFill>
          <a:blip r:embed="rId4"/>
          <a:stretch>
            <a:fillRect/>
          </a:stretch>
        </p:blipFill>
        <p:spPr>
          <a:xfrm>
            <a:off x="8466320" y="1756747"/>
            <a:ext cx="2337667" cy="803572"/>
          </a:xfrm>
          <a:prstGeom prst="rect">
            <a:avLst/>
          </a:prstGeom>
        </p:spPr>
      </p:pic>
      <p:sp>
        <p:nvSpPr>
          <p:cNvPr id="9" name="TextBox 8">
            <a:extLst>
              <a:ext uri="{FF2B5EF4-FFF2-40B4-BE49-F238E27FC236}">
                <a16:creationId xmlns:a16="http://schemas.microsoft.com/office/drawing/2014/main" id="{4EDCE6EC-FB35-461D-8351-170263D09827}"/>
              </a:ext>
            </a:extLst>
          </p:cNvPr>
          <p:cNvSpPr txBox="1"/>
          <p:nvPr/>
        </p:nvSpPr>
        <p:spPr>
          <a:xfrm>
            <a:off x="815926" y="3075057"/>
            <a:ext cx="6372165" cy="707886"/>
          </a:xfrm>
          <a:prstGeom prst="rect">
            <a:avLst/>
          </a:prstGeom>
          <a:noFill/>
        </p:spPr>
        <p:txBody>
          <a:bodyPr wrap="square">
            <a:spAutoFit/>
          </a:bodyPr>
          <a:lstStyle/>
          <a:p>
            <a:pPr marL="285750" indent="-285750">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What is the average bonus given per department?</a:t>
            </a:r>
            <a:br>
              <a:rPr lang="en-US" sz="2000" b="0" i="0" u="none" strike="noStrike" dirty="0">
                <a:solidFill>
                  <a:srgbClr val="000000"/>
                </a:solidFill>
                <a:effectLst/>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089BD52-8A9F-4F5C-B9CD-B3DE5E38E319}"/>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1175663" y="3647099"/>
            <a:ext cx="5156308" cy="1851185"/>
          </a:xfrm>
          <a:prstGeom prst="rect">
            <a:avLst/>
          </a:prstGeom>
        </p:spPr>
      </p:pic>
      <p:pic>
        <p:nvPicPr>
          <p:cNvPr id="13" name="Picture 12">
            <a:extLst>
              <a:ext uri="{FF2B5EF4-FFF2-40B4-BE49-F238E27FC236}">
                <a16:creationId xmlns:a16="http://schemas.microsoft.com/office/drawing/2014/main" id="{7375FEA3-F8C8-415D-9661-EE64E979134A}"/>
              </a:ext>
            </a:extLst>
          </p:cNvPr>
          <p:cNvPicPr>
            <a:picLocks noChangeAspect="1"/>
          </p:cNvPicPr>
          <p:nvPr/>
        </p:nvPicPr>
        <p:blipFill>
          <a:blip r:embed="rId7"/>
          <a:stretch>
            <a:fillRect/>
          </a:stretch>
        </p:blipFill>
        <p:spPr>
          <a:xfrm>
            <a:off x="8055384" y="3429001"/>
            <a:ext cx="3075005" cy="2069284"/>
          </a:xfrm>
          <a:prstGeom prst="rect">
            <a:avLst/>
          </a:prstGeom>
        </p:spPr>
      </p:pic>
    </p:spTree>
    <p:extLst>
      <p:ext uri="{BB962C8B-B14F-4D97-AF65-F5344CB8AC3E}">
        <p14:creationId xmlns:p14="http://schemas.microsoft.com/office/powerpoint/2010/main" val="780253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95165-1F92-44E6-B741-2C2AB4C42EAC}"/>
              </a:ext>
            </a:extLst>
          </p:cNvPr>
          <p:cNvSpPr>
            <a:spLocks noGrp="1"/>
          </p:cNvSpPr>
          <p:nvPr>
            <p:ph type="title"/>
          </p:nvPr>
        </p:nvSpPr>
        <p:spPr>
          <a:xfrm>
            <a:off x="450166" y="365126"/>
            <a:ext cx="11254154" cy="788426"/>
          </a:xfrm>
        </p:spPr>
        <p:txBody>
          <a:bodyPr/>
          <a:lstStyle/>
          <a:p>
            <a:r>
              <a:rPr lang="en-IN" b="1" i="0" u="none" strike="noStrike" dirty="0">
                <a:solidFill>
                  <a:srgbClr val="FF0000"/>
                </a:solidFill>
                <a:effectLst/>
                <a:latin typeface="Times New Roman" panose="02020603050405020304" pitchFamily="18" charset="0"/>
                <a:cs typeface="Times New Roman" panose="02020603050405020304" pitchFamily="18" charset="0"/>
              </a:rPr>
              <a:t>Analysis Questions</a:t>
            </a:r>
            <a:endParaRPr lang="en-IN" dirty="0"/>
          </a:p>
        </p:txBody>
      </p:sp>
      <p:sp>
        <p:nvSpPr>
          <p:cNvPr id="3" name="Text Placeholder 2">
            <a:extLst>
              <a:ext uri="{FF2B5EF4-FFF2-40B4-BE49-F238E27FC236}">
                <a16:creationId xmlns:a16="http://schemas.microsoft.com/office/drawing/2014/main" id="{5488C893-C2B0-4086-A599-F5AF237AC2A6}"/>
              </a:ext>
            </a:extLst>
          </p:cNvPr>
          <p:cNvSpPr>
            <a:spLocks noGrp="1"/>
          </p:cNvSpPr>
          <p:nvPr>
            <p:ph type="body" idx="1"/>
          </p:nvPr>
        </p:nvSpPr>
        <p:spPr>
          <a:xfrm>
            <a:off x="487680" y="1153552"/>
            <a:ext cx="11254154" cy="5023411"/>
          </a:xfrm>
        </p:spPr>
        <p:txBody>
          <a:bodyPr/>
          <a:lstStyle/>
          <a:p>
            <a:r>
              <a:rPr lang="en-US" sz="2000" b="0" i="0" u="none" strike="noStrike" dirty="0">
                <a:solidFill>
                  <a:srgbClr val="000000"/>
                </a:solidFill>
                <a:effectLst/>
                <a:latin typeface="Times New Roman" panose="02020603050405020304" pitchFamily="18" charset="0"/>
                <a:cs typeface="Times New Roman" panose="02020603050405020304" pitchFamily="18" charset="0"/>
              </a:rPr>
              <a:t>Which department receives the highest total bonuses?</a:t>
            </a:r>
            <a:br>
              <a:rPr lang="en-US" sz="1800" b="0" i="0" u="none" strike="noStrike" dirty="0">
                <a:solidFill>
                  <a:srgbClr val="000000"/>
                </a:solidFill>
                <a:effectLst/>
                <a:latin typeface="Arial" panose="020B0604020202020204" pitchFamily="34" charset="0"/>
              </a:rPr>
            </a:br>
            <a:endParaRPr lang="en-IN" dirty="0"/>
          </a:p>
        </p:txBody>
      </p:sp>
      <p:pic>
        <p:nvPicPr>
          <p:cNvPr id="5" name="Picture 4">
            <a:extLst>
              <a:ext uri="{FF2B5EF4-FFF2-40B4-BE49-F238E27FC236}">
                <a16:creationId xmlns:a16="http://schemas.microsoft.com/office/drawing/2014/main" id="{FF2A7AF5-F796-49F7-A246-4B3FF293466B}"/>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080116" y="1695452"/>
            <a:ext cx="5334752" cy="1494985"/>
          </a:xfrm>
          <a:prstGeom prst="rect">
            <a:avLst/>
          </a:prstGeom>
        </p:spPr>
      </p:pic>
      <p:pic>
        <p:nvPicPr>
          <p:cNvPr id="7" name="Picture 6">
            <a:extLst>
              <a:ext uri="{FF2B5EF4-FFF2-40B4-BE49-F238E27FC236}">
                <a16:creationId xmlns:a16="http://schemas.microsoft.com/office/drawing/2014/main" id="{48A475C8-56A8-4165-923F-99C146983505}"/>
              </a:ext>
            </a:extLst>
          </p:cNvPr>
          <p:cNvPicPr>
            <a:picLocks noChangeAspect="1"/>
          </p:cNvPicPr>
          <p:nvPr/>
        </p:nvPicPr>
        <p:blipFill>
          <a:blip r:embed="rId4"/>
          <a:stretch>
            <a:fillRect/>
          </a:stretch>
        </p:blipFill>
        <p:spPr>
          <a:xfrm>
            <a:off x="8173330" y="1414873"/>
            <a:ext cx="2419642" cy="1772636"/>
          </a:xfrm>
          <a:prstGeom prst="rect">
            <a:avLst/>
          </a:prstGeom>
        </p:spPr>
      </p:pic>
      <p:sp>
        <p:nvSpPr>
          <p:cNvPr id="9" name="TextBox 8">
            <a:extLst>
              <a:ext uri="{FF2B5EF4-FFF2-40B4-BE49-F238E27FC236}">
                <a16:creationId xmlns:a16="http://schemas.microsoft.com/office/drawing/2014/main" id="{6CD4FD70-AEC9-41C3-883D-EBCB76A6A8E8}"/>
              </a:ext>
            </a:extLst>
          </p:cNvPr>
          <p:cNvSpPr txBox="1"/>
          <p:nvPr/>
        </p:nvSpPr>
        <p:spPr>
          <a:xfrm>
            <a:off x="698319" y="3403647"/>
            <a:ext cx="6743489" cy="707886"/>
          </a:xfrm>
          <a:prstGeom prst="rect">
            <a:avLst/>
          </a:prstGeom>
          <a:noFill/>
        </p:spPr>
        <p:txBody>
          <a:bodyPr wrap="square">
            <a:spAutoFit/>
          </a:bodyPr>
          <a:lstStyle/>
          <a:p>
            <a:pPr marL="285750" indent="-285750" rtl="0" fontAlgn="base">
              <a:spcBef>
                <a:spcPts val="1200"/>
              </a:spcBef>
              <a:spcAft>
                <a:spcPts val="1200"/>
              </a:spcAft>
              <a:buFont typeface="Arial" panose="020B0604020202020204" pitchFamily="34" charset="0"/>
              <a:buChar char="•"/>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What is the average value of total_amount after considering leave deductions?</a:t>
            </a:r>
          </a:p>
        </p:txBody>
      </p:sp>
      <p:pic>
        <p:nvPicPr>
          <p:cNvPr id="11" name="Picture 10">
            <a:extLst>
              <a:ext uri="{FF2B5EF4-FFF2-40B4-BE49-F238E27FC236}">
                <a16:creationId xmlns:a16="http://schemas.microsoft.com/office/drawing/2014/main" id="{3976CB6B-7D09-4A23-9595-44F592517A09}"/>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1080116" y="4264955"/>
            <a:ext cx="5334752" cy="1643476"/>
          </a:xfrm>
          <a:prstGeom prst="rect">
            <a:avLst/>
          </a:prstGeom>
        </p:spPr>
      </p:pic>
      <p:pic>
        <p:nvPicPr>
          <p:cNvPr id="13" name="Picture 12">
            <a:extLst>
              <a:ext uri="{FF2B5EF4-FFF2-40B4-BE49-F238E27FC236}">
                <a16:creationId xmlns:a16="http://schemas.microsoft.com/office/drawing/2014/main" id="{91B968D9-6237-439C-99AC-1E4DB5FD03F4}"/>
              </a:ext>
            </a:extLst>
          </p:cNvPr>
          <p:cNvPicPr>
            <a:picLocks noChangeAspect="1"/>
          </p:cNvPicPr>
          <p:nvPr/>
        </p:nvPicPr>
        <p:blipFill>
          <a:blip r:embed="rId7"/>
          <a:stretch>
            <a:fillRect/>
          </a:stretch>
        </p:blipFill>
        <p:spPr>
          <a:xfrm>
            <a:off x="8363876" y="4545159"/>
            <a:ext cx="2449001" cy="897967"/>
          </a:xfrm>
          <a:prstGeom prst="rect">
            <a:avLst/>
          </a:prstGeom>
        </p:spPr>
      </p:pic>
    </p:spTree>
    <p:extLst>
      <p:ext uri="{BB962C8B-B14F-4D97-AF65-F5344CB8AC3E}">
        <p14:creationId xmlns:p14="http://schemas.microsoft.com/office/powerpoint/2010/main" val="3925416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776B0-5DBC-4946-947D-982A8E6F5D35}"/>
              </a:ext>
            </a:extLst>
          </p:cNvPr>
          <p:cNvSpPr>
            <a:spLocks noGrp="1"/>
          </p:cNvSpPr>
          <p:nvPr>
            <p:ph type="title"/>
          </p:nvPr>
        </p:nvSpPr>
        <p:spPr>
          <a:xfrm>
            <a:off x="379828" y="365126"/>
            <a:ext cx="11408898" cy="507072"/>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KEY INSIGHTS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FEE5EFA-F807-4833-9A26-E429BDCEF223}"/>
              </a:ext>
            </a:extLst>
          </p:cNvPr>
          <p:cNvSpPr>
            <a:spLocks noGrp="1"/>
          </p:cNvSpPr>
          <p:nvPr>
            <p:ph type="body" idx="1"/>
          </p:nvPr>
        </p:nvSpPr>
        <p:spPr>
          <a:xfrm>
            <a:off x="562708" y="872198"/>
            <a:ext cx="11071274" cy="5304765"/>
          </a:xfrm>
        </p:spPr>
        <p:txBody>
          <a:bodyPr>
            <a:normAutofit fontScale="47500" lnSpcReduction="20000"/>
          </a:bodyPr>
          <a:lstStyle/>
          <a:p>
            <a:r>
              <a:rPr lang="en-US" sz="4600" dirty="0">
                <a:latin typeface="Times New Roman" panose="02020603050405020304" pitchFamily="18" charset="0"/>
                <a:cs typeface="Times New Roman" panose="02020603050405020304" pitchFamily="18" charset="0"/>
              </a:rPr>
              <a:t>The company maintains a well-organized system to manage employee details, departments, job roles, and payroll records. This helps in efficient data management and easy access to employee information.</a:t>
            </a:r>
          </a:p>
          <a:p>
            <a:r>
              <a:rPr lang="en-US" sz="4600" dirty="0">
                <a:latin typeface="Times New Roman" panose="02020603050405020304" pitchFamily="18" charset="0"/>
                <a:cs typeface="Times New Roman" panose="02020603050405020304" pitchFamily="18" charset="0"/>
              </a:rPr>
              <a:t>Employees are distributed across different departments based on job roles and responsibilities. This shows how workforce allocation supports various organizational functions.</a:t>
            </a:r>
          </a:p>
          <a:p>
            <a:r>
              <a:rPr lang="en-US" sz="4600" dirty="0">
                <a:latin typeface="Times New Roman" panose="02020603050405020304" pitchFamily="18" charset="0"/>
                <a:cs typeface="Times New Roman" panose="02020603050405020304" pitchFamily="18" charset="0"/>
              </a:rPr>
              <a:t>A large portion of the company’s expenses is spent on employee salaries and compensation.This highlights the importance of effective payroll management.</a:t>
            </a:r>
          </a:p>
          <a:p>
            <a:r>
              <a:rPr lang="en-US" sz="4600" dirty="0">
                <a:latin typeface="Times New Roman" panose="02020603050405020304" pitchFamily="18" charset="0"/>
                <a:cs typeface="Times New Roman" panose="02020603050405020304" pitchFamily="18" charset="0"/>
              </a:rPr>
              <a:t>The Finance department receives the highest salary allocation compared to other department. This indicates higher compensation levels for financial roles and responsibilities</a:t>
            </a:r>
          </a:p>
          <a:p>
            <a:r>
              <a:rPr lang="en-US" sz="4600" dirty="0">
                <a:latin typeface="Times New Roman" panose="02020603050405020304" pitchFamily="18" charset="0"/>
                <a:cs typeface="Times New Roman" panose="02020603050405020304" pitchFamily="18" charset="0"/>
              </a:rPr>
              <a:t>Many employees possess multiple qualifications and certification. This demonstrates a highly skilled workforce within the organization.</a:t>
            </a:r>
          </a:p>
          <a:p>
            <a:r>
              <a:rPr lang="en-US" sz="4600" dirty="0">
                <a:latin typeface="Times New Roman" panose="02020603050405020304" pitchFamily="18" charset="0"/>
                <a:cs typeface="Times New Roman" panose="02020603050405020304" pitchFamily="18" charset="0"/>
              </a:rPr>
              <a:t>Leave records show that employees take leaves at different times for various reasons. Analyzing these patterns helps in planning workforce availability.</a:t>
            </a:r>
          </a:p>
          <a:p>
            <a:r>
              <a:rPr lang="en-US" sz="4600" dirty="0">
                <a:latin typeface="Times New Roman" panose="02020603050405020304" pitchFamily="18" charset="0"/>
                <a:cs typeface="Times New Roman" panose="02020603050405020304" pitchFamily="18" charset="0"/>
              </a:rPr>
              <a:t>Bonus amounts differ across departments depending on performance and job roles. This reflects a performance-based reward system within the organization</a:t>
            </a:r>
          </a:p>
          <a:p>
            <a:pPr marL="114300" indent="0">
              <a:buNone/>
            </a:pPr>
            <a:endParaRPr lang="en-IN" dirty="0"/>
          </a:p>
        </p:txBody>
      </p:sp>
    </p:spTree>
    <p:extLst>
      <p:ext uri="{BB962C8B-B14F-4D97-AF65-F5344CB8AC3E}">
        <p14:creationId xmlns:p14="http://schemas.microsoft.com/office/powerpoint/2010/main" val="1424669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A8928-18AA-47C4-B0B8-948CE9C21522}"/>
              </a:ext>
            </a:extLst>
          </p:cNvPr>
          <p:cNvSpPr>
            <a:spLocks noGrp="1"/>
          </p:cNvSpPr>
          <p:nvPr>
            <p:ph type="title"/>
          </p:nvPr>
        </p:nvSpPr>
        <p:spPr>
          <a:xfrm>
            <a:off x="450166" y="365126"/>
            <a:ext cx="11268222" cy="619612"/>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RECOMMENDATIONS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D926FBF-A783-447E-A0E9-96B1016E1353}"/>
              </a:ext>
            </a:extLst>
          </p:cNvPr>
          <p:cNvSpPr>
            <a:spLocks noGrp="1"/>
          </p:cNvSpPr>
          <p:nvPr>
            <p:ph type="body" idx="1"/>
          </p:nvPr>
        </p:nvSpPr>
        <p:spPr>
          <a:xfrm>
            <a:off x="473612" y="984738"/>
            <a:ext cx="11268222" cy="5192225"/>
          </a:xfrm>
        </p:spPr>
        <p:txBody>
          <a:bodyPr>
            <a:normAutofit fontScale="70000" lnSpcReduction="20000"/>
          </a:bodyPr>
          <a:lstStyle/>
          <a:p>
            <a:r>
              <a:rPr lang="en-US" sz="2900" b="1" dirty="0">
                <a:latin typeface="Times New Roman" panose="02020603050405020304" pitchFamily="18" charset="0"/>
                <a:cs typeface="Times New Roman" panose="02020603050405020304" pitchFamily="18" charset="0"/>
              </a:rPr>
              <a:t>1. Improve Workforce Planning</a:t>
            </a:r>
            <a:br>
              <a:rPr lang="en-US"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The company should analyze employee distribution across departments to ensure balanced workload.</a:t>
            </a:r>
            <a:br>
              <a:rPr lang="en-US" sz="2900" dirty="0">
                <a:latin typeface="Times New Roman" panose="02020603050405020304" pitchFamily="18" charset="0"/>
                <a:cs typeface="Times New Roman" panose="02020603050405020304" pitchFamily="18" charset="0"/>
              </a:rPr>
            </a:br>
            <a:r>
              <a:rPr lang="en-US" sz="2900" dirty="0">
                <a:latin typeface="Times New Roman" panose="02020603050405020304" pitchFamily="18" charset="0"/>
                <a:cs typeface="Times New Roman" panose="02020603050405020304" pitchFamily="18" charset="0"/>
              </a:rPr>
              <a:t>Proper workforce planning can help improve productivity and operational efficiency.</a:t>
            </a:r>
          </a:p>
          <a:p>
            <a:r>
              <a:rPr lang="en-US" b="1" dirty="0">
                <a:latin typeface="Times New Roman" panose="02020603050405020304" pitchFamily="18" charset="0"/>
                <a:cs typeface="Times New Roman" panose="02020603050405020304" pitchFamily="18" charset="0"/>
              </a:rPr>
              <a:t>2. Optimize Payroll Management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Since payroll is a major expense, the organization should regularly review salary structures.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will help control costs while maintaining fair employee compensation.</a:t>
            </a:r>
          </a:p>
          <a:p>
            <a:r>
              <a:rPr lang="en-US" b="1" dirty="0">
                <a:latin typeface="Times New Roman" panose="02020603050405020304" pitchFamily="18" charset="0"/>
                <a:cs typeface="Times New Roman" panose="02020603050405020304" pitchFamily="18" charset="0"/>
              </a:rPr>
              <a:t>3. Encourage Skill Development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Employees should be encouraged to gain additional qualifications and certifications.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can improve employee performance and support career growth within the organization.</a:t>
            </a:r>
          </a:p>
          <a:p>
            <a:r>
              <a:rPr lang="en-US" b="1" dirty="0">
                <a:latin typeface="Times New Roman" panose="02020603050405020304" pitchFamily="18" charset="0"/>
                <a:cs typeface="Times New Roman" panose="02020603050405020304" pitchFamily="18" charset="0"/>
              </a:rPr>
              <a:t>4. Monitor Leave Patterns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company should monitor employee leave trends to avoid workforce shortages.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Better leave management can ensure smooth workflow and operational continuity.</a:t>
            </a:r>
          </a:p>
          <a:p>
            <a:r>
              <a:rPr lang="en-US" b="1" dirty="0">
                <a:latin typeface="Times New Roman" panose="02020603050405020304" pitchFamily="18" charset="0"/>
                <a:cs typeface="Times New Roman" panose="02020603050405020304" pitchFamily="18" charset="0"/>
              </a:rPr>
              <a:t>5. Implement Performance-Based Rewards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Bonuses and incentives should be linked to employee performance and achievements.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will motivate employees and improve overall productivity.</a:t>
            </a:r>
          </a:p>
          <a:p>
            <a:r>
              <a:rPr lang="en-US" b="1" dirty="0">
                <a:latin typeface="Times New Roman" panose="02020603050405020304" pitchFamily="18" charset="0"/>
                <a:cs typeface="Times New Roman" panose="02020603050405020304" pitchFamily="18" charset="0"/>
              </a:rPr>
              <a:t>6. Enhance Data Management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organization should maintain accurate and updated employee records in the system.</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ensures reliable reporting and better decision-making for HR management.</a:t>
            </a:r>
          </a:p>
          <a:p>
            <a:pPr marL="114300" indent="0">
              <a:buNone/>
            </a:pPr>
            <a:endParaRPr lang="en-IN" dirty="0"/>
          </a:p>
        </p:txBody>
      </p:sp>
    </p:spTree>
    <p:extLst>
      <p:ext uri="{BB962C8B-B14F-4D97-AF65-F5344CB8AC3E}">
        <p14:creationId xmlns:p14="http://schemas.microsoft.com/office/powerpoint/2010/main" val="3765020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44032-363B-41BD-95E7-402FE926E93F}"/>
              </a:ext>
            </a:extLst>
          </p:cNvPr>
          <p:cNvSpPr>
            <a:spLocks noGrp="1"/>
          </p:cNvSpPr>
          <p:nvPr>
            <p:ph type="title"/>
          </p:nvPr>
        </p:nvSpPr>
        <p:spPr>
          <a:xfrm>
            <a:off x="393895" y="365126"/>
            <a:ext cx="11366696" cy="605546"/>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CONCLUSION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8067D05-4776-4EAA-BE9B-60CABAA01435}"/>
              </a:ext>
            </a:extLst>
          </p:cNvPr>
          <p:cNvSpPr>
            <a:spLocks noGrp="1"/>
          </p:cNvSpPr>
          <p:nvPr>
            <p:ph type="body" idx="1"/>
          </p:nvPr>
        </p:nvSpPr>
        <p:spPr>
          <a:xfrm>
            <a:off x="393895" y="970672"/>
            <a:ext cx="11366696" cy="5206291"/>
          </a:xfrm>
        </p:spPr>
        <p:txBody>
          <a:bodyPr/>
          <a:lstStyle/>
          <a:p>
            <a:r>
              <a:rPr lang="en-US" dirty="0">
                <a:latin typeface="Times New Roman" panose="02020603050405020304" pitchFamily="18" charset="0"/>
                <a:cs typeface="Times New Roman" panose="02020603050405020304" pitchFamily="18" charset="0"/>
              </a:rPr>
              <a:t>The Employee Management System helps in efficiently managing employee information, departments, payroll, qualifications, and leave records within an organization.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By using a structured database and SQL queries, the system ensures accurate data storage, easy retrieval, and better analysis of employee-related information.</a:t>
            </a:r>
          </a:p>
          <a:p>
            <a:r>
              <a:rPr lang="en-US" dirty="0">
                <a:latin typeface="Times New Roman" panose="02020603050405020304" pitchFamily="18" charset="0"/>
                <a:cs typeface="Times New Roman" panose="02020603050405020304" pitchFamily="18" charset="0"/>
              </a:rPr>
              <a:t>The analysis provides valuable insights into employee distribution, salary structures, payroll expenditure, and leave patterns, which support better decision-making for HR and management.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Overall, the system improves data organization, operational efficiency, and workforce management within the organization.</a:t>
            </a:r>
          </a:p>
          <a:p>
            <a:pPr marL="114300" indent="0">
              <a:buNone/>
            </a:pPr>
            <a:endParaRPr lang="en-IN" dirty="0"/>
          </a:p>
        </p:txBody>
      </p:sp>
    </p:spTree>
    <p:extLst>
      <p:ext uri="{BB962C8B-B14F-4D97-AF65-F5344CB8AC3E}">
        <p14:creationId xmlns:p14="http://schemas.microsoft.com/office/powerpoint/2010/main" val="3723478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1935</TotalTime>
  <Words>1185</Words>
  <Application>Microsoft Office PowerPoint</Application>
  <PresentationFormat>Widescreen</PresentationFormat>
  <Paragraphs>109</Paragraphs>
  <Slides>23</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Times New Roman</vt:lpstr>
      <vt:lpstr>Libre Baskerville</vt:lpstr>
      <vt:lpstr>Calibri</vt:lpstr>
      <vt:lpstr>Office Theme</vt:lpstr>
      <vt:lpstr>PowerPoint Presentation</vt:lpstr>
      <vt:lpstr>INTRODUCTION</vt:lpstr>
      <vt:lpstr>PROBLEM STATEMENT</vt:lpstr>
      <vt:lpstr>OBJECTIVES</vt:lpstr>
      <vt:lpstr>TABLES</vt:lpstr>
      <vt:lpstr>TABLE STRUCTURE</vt:lpstr>
      <vt:lpstr>TABLE STRUCTURE</vt:lpstr>
      <vt:lpstr>ER DIAGRAM</vt:lpstr>
      <vt:lpstr>Analysis Questions</vt:lpstr>
      <vt:lpstr>Analysis Questions</vt:lpstr>
      <vt:lpstr>Analysis Questions</vt:lpstr>
      <vt:lpstr>Analysis Questions</vt:lpstr>
      <vt:lpstr>Analysis Questions</vt:lpstr>
      <vt:lpstr>Analysis Questions</vt:lpstr>
      <vt:lpstr>Analysis Questions</vt:lpstr>
      <vt:lpstr>Analysis Questions</vt:lpstr>
      <vt:lpstr>Analysis Questions</vt:lpstr>
      <vt:lpstr>Analysis Questions</vt:lpstr>
      <vt:lpstr>Analysis Questions</vt:lpstr>
      <vt:lpstr>KEY INSIGHTS</vt:lpstr>
      <vt:lpstr>RECOMMENDATIONS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chaitanya kumar</cp:lastModifiedBy>
  <cp:revision>21</cp:revision>
  <dcterms:created xsi:type="dcterms:W3CDTF">2021-02-16T05:19:01Z</dcterms:created>
  <dcterms:modified xsi:type="dcterms:W3CDTF">2026-03-17T19:16:55Z</dcterms:modified>
</cp:coreProperties>
</file>